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4" r:id="rId2"/>
    <p:sldId id="256" r:id="rId3"/>
    <p:sldId id="257" r:id="rId4"/>
    <p:sldId id="270" r:id="rId5"/>
    <p:sldId id="274" r:id="rId6"/>
    <p:sldId id="275" r:id="rId7"/>
    <p:sldId id="277" r:id="rId8"/>
    <p:sldId id="278" r:id="rId9"/>
    <p:sldId id="284" r:id="rId10"/>
    <p:sldId id="279" r:id="rId11"/>
    <p:sldId id="280" r:id="rId12"/>
    <p:sldId id="281" r:id="rId13"/>
    <p:sldId id="282" r:id="rId14"/>
    <p:sldId id="283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C9E"/>
    <a:srgbClr val="0073D5"/>
    <a:srgbClr val="5E9EDB"/>
    <a:srgbClr val="0868A4"/>
    <a:srgbClr val="E1EDFC"/>
    <a:srgbClr val="0196E9"/>
    <a:srgbClr val="00B8F6"/>
    <a:srgbClr val="60B5FF"/>
    <a:srgbClr val="FDDD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8" autoAdjust="0"/>
    <p:restoredTop sz="94318" autoAdjust="0"/>
  </p:normalViewPr>
  <p:slideViewPr>
    <p:cSldViewPr snapToGrid="0">
      <p:cViewPr>
        <p:scale>
          <a:sx n="140" d="100"/>
          <a:sy n="140" d="100"/>
        </p:scale>
        <p:origin x="54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37B41-D29B-415D-B273-689CC5240CF6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F13E4-EBEB-4EED-A63F-F21054650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88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F13E4-EBEB-4EED-A63F-F210546506E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30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F13E4-EBEB-4EED-A63F-F210546506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83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638F0-60DC-F805-7527-5E5F1DBE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4F65A-34D0-699E-6F8A-28AC3BC40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A8A97C-5C32-41E2-9614-33DEAAA86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07C39-841A-3BF9-8FF4-1948F081A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F13E4-EBEB-4EED-A63F-F210546506E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20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C80D-953E-CB65-43DC-899CC8F70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D318B-D538-8A3B-BAB8-239385F8C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C218F-BD81-4647-A665-588F4AB5B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29515-B5CF-4C02-DBFD-B085B7E1A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F13E4-EBEB-4EED-A63F-F210546506E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26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74B3A-9B72-CC91-486B-E88D79485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561B8-DE72-FD9D-67A0-DAD0138D2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33A98-6B26-05B6-0D36-003ADAF79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55C4C-ED03-413A-7E43-A0E51DEC7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F13E4-EBEB-4EED-A63F-F210546506E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46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F42E6-9932-584E-AEE9-A28C9340B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3CA07-9D4B-C853-8310-B79FC539C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95BA4-C686-1B0F-EC40-D18C6BDB5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FB1FA-C18E-7EF3-47CA-D647B57F5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F13E4-EBEB-4EED-A63F-F210546506E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42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BD961-2AD5-2C3B-9D1B-D3735B09B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C5CFB-3267-CB14-1165-EBF1C1D32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76EA3-6C59-6336-39B9-C7C469884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DCF09-9E22-2013-B840-39E46210E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F13E4-EBEB-4EED-A63F-F210546506E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0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56342-9F04-AE4D-E68B-E5590E5D6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E3581-1ED8-EF79-B3B0-7DA209077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FF5D6-E630-2D16-DF07-37B658699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D3327-A568-760D-5FDE-D2EFA8B8E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F13E4-EBEB-4EED-A63F-F210546506E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02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592FB-B158-C2B8-F293-A34989AA8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F3360-BD1D-55C2-7BCC-74B82A44D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AE421-C932-FB69-48B7-932092107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EBEF7-F2CC-B408-EDF7-364ACC7C6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F13E4-EBEB-4EED-A63F-F210546506E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02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9E1D4-0BA4-2F7B-D1E9-F51245FF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71EEF-40EE-EBBE-DC1F-B7E963F05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5E185-E601-D6EF-C057-DAA6E6DDE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8FB70-74BF-E915-987E-495A41F73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F13E4-EBEB-4EED-A63F-F210546506E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411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55BE-C2A6-4B45-0D1D-72F84A820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93CDF-B249-32B6-70D7-31DABE112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4C335-0FAB-CB2F-9011-4F10CF559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27BCE-5A38-122E-EAFF-DEEFA6544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F13E4-EBEB-4EED-A63F-F210546506E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99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17664-49C6-7215-233B-6100AFF64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45CDD-D9EB-1ED2-135C-3779C183B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16F99-D0C9-85D7-BF58-3E4AB5FAA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846C7-E863-9C0A-5285-5D0E977F2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F13E4-EBEB-4EED-A63F-F210546506E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30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F13E4-EBEB-4EED-A63F-F210546506E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09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36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1D61-26B8-089D-5D17-D8CA94E9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C82E0-DFA6-9BCD-839A-E4BF97DD3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E6075-B38C-6E67-C566-66126323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5B38-C9D4-46DD-ADAF-DE8EB64E8BA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477DF-1ACD-A558-7860-2A9D44246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0F852-4A7D-D551-6DCF-F8C06E3FC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ECFD-FA3D-40D2-8E8B-8BA243886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2BA2-66FE-34FA-17AD-9EB9B4E8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3D405-9C94-AEBA-2E46-92A04EBEF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CA5FF-1B7F-DD56-3BC7-0B65286DB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5B38-C9D4-46DD-ADAF-DE8EB64E8BA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4CF6-167C-BE06-11C6-0831F77E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C5140-E384-7BEE-260A-60B04DB9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ECFD-FA3D-40D2-8E8B-8BA243886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31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0CF1A-7E8C-6971-5CCF-73174A4B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1E139-5429-EDCD-402D-B418A629B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DB062-1B7D-7610-D06C-59CC6659D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59070-74E3-F1E9-8695-D0907007C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5B38-C9D4-46DD-ADAF-DE8EB64E8BA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B097C-FDBF-1560-C294-B1200F8C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CA1DC-DF0E-D652-5657-80EF1E2F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ECFD-FA3D-40D2-8E8B-8BA243886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1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F87F5-FCFA-D8D4-D0CC-C918224C1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FE92E-CE99-1E1D-BA98-9CC5B6407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D91B6-0EB4-ADF7-514E-4847E0AD0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09D4AC-78FE-0D87-98A3-EE9992B67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789D75-08F1-0E6E-94D9-E8DD1804F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131130-81C6-D40C-1535-A7319C3D2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5B38-C9D4-46DD-ADAF-DE8EB64E8BA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37A687-BC36-A00E-51FA-247DA083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3DC402-AE3B-4CE9-B4EE-7788A683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ECFD-FA3D-40D2-8E8B-8BA243886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28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9E7A-3A29-34B5-3EDB-40B5ECECC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F993BD-4C24-05B7-A26C-D153130CC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5B38-C9D4-46DD-ADAF-DE8EB64E8BA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94715-154F-B2E2-AF1E-11647AB60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191C9-E7AD-4C75-B267-EA43DEAD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ECFD-FA3D-40D2-8E8B-8BA243886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6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62458F-6F59-EBF8-859C-904E9AA2F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5B38-C9D4-46DD-ADAF-DE8EB64E8BA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3EF2E-1D3D-A3C0-447C-910AC3C1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C5DC5-1A12-69F0-49D3-FC0EE2054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ECFD-FA3D-40D2-8E8B-8BA243886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20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9615-9B14-A424-E463-E0EC0E69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F5248-A678-AA36-5647-3230B64D1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AAF93-242D-0C8E-FA1E-3BE2F890D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3BA37-01F1-4554-A230-B9CE4262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5B38-C9D4-46DD-ADAF-DE8EB64E8BA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D887D-5FB7-C539-8573-426E4910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9E1A1-DB33-FFBE-651B-8992F915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ECFD-FA3D-40D2-8E8B-8BA243886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74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05DB-74B7-2B5D-48B4-A30DEAD14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4CC2C6-46B7-B8D7-3F0B-15E90596AC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9E3A8-8DE3-EC23-CB54-6B5D2A75F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7AC29-C75F-0BA9-909A-199F235AE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5B38-C9D4-46DD-ADAF-DE8EB64E8BA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DDE6C-73D3-636E-DB13-4B772448E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028C4-43BA-9C97-414F-9BAD6929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ECFD-FA3D-40D2-8E8B-8BA243886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5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2685-27D3-52E7-B353-112462E8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602BFD-C1CF-CEFD-6B73-0763C08CD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EE90-4170-B6AF-0F7E-4A3F4804E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5B38-C9D4-46DD-ADAF-DE8EB64E8BA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3B1A5-63BC-1B72-541B-85A53DBC2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3C76F-3FE4-8479-DD14-C1553FF7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ECFD-FA3D-40D2-8E8B-8BA243886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7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55D530-7610-DDB6-BFC9-6FA9479227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243FB6-809E-EA56-53A8-E5748DB02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CC893-24B2-3FA9-B346-68437B501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95B38-C9D4-46DD-ADAF-DE8EB64E8BA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F329F-F456-2D5D-95CD-9425EC56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2A1BC-1720-822B-A33F-B6B03661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ECFD-FA3D-40D2-8E8B-8BA243886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5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51F38-87A2-5808-BE10-2C706EED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41E32-59CF-7D5E-B0A2-873B46F09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23218-F1F8-FD2E-6EFB-D37BC92337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95B38-C9D4-46DD-ADAF-DE8EB64E8BA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1E55D-F262-9827-E969-08A4679A8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DA545-B1F5-FB36-1CB8-4496F554A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5ECFD-FA3D-40D2-8E8B-8BA243886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1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file:////Users/ticoder-coder/Library/Group%20Containers/UBF8T346G9.ms/WebArchiveCopyPasteTempFiles/com.microsoft.Word/content%3fid=file_00000000d7f872069ceac128a150f6d3&amp;ts=493929&amp;p=fs&amp;cid=1&amp;sig=0ab674373c4c5a208df1391696b8d8ffa114c7872b26a7fc0b18fc26618ca01e&amp;v=0" TargetMode="External"/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12" Type="http://schemas.openxmlformats.org/officeDocument/2006/relationships/image" Target="file:////Users/ticoder-coder/Library/Group%20Containers/UBF8T346G9.ms/WebArchiveCopyPasteTempFiles/com.microsoft.Word/content%3fid=file_0000000027747206b4739113c800fe23&amp;ts=493929&amp;p=fs&amp;cid=1&amp;sig=01140d5d552e8943bfc6955e7a79989159302dfa9ffa1a8f854cb30ca2e5d1a2&amp;v=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file:////Users/ticoder-coder/Library/Group%20Containers/UBF8T346G9.ms/WebArchiveCopyPasteTempFiles/com.microsoft.Word/content%3fid=file_00000000412872068ddf717207583756&amp;ts=493929&amp;p=fs&amp;cid=1&amp;sig=f4c6f63792be9e45554c483e95fe0c93a5cae86630e798e113e6efa15f97e07f&amp;v=0" TargetMode="External"/><Relationship Id="rId4" Type="http://schemas.openxmlformats.org/officeDocument/2006/relationships/image" Target="../media/image6.sv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file:////Users/ticoder-coder/Library/Group%20Containers/UBF8T346G9.ms/WebArchiveCopyPasteTempFiles/com.microsoft.Word/content%3fid=file_00000000652072068cf664893c02da3d&amp;ts=493929&amp;p=fs&amp;cid=1&amp;sig=1278dda08c48215602fa6d7483d6c776ce6373b78fff2d6e20a86369b8d5aeed&amp;v=0" TargetMode="External"/><Relationship Id="rId3" Type="http://schemas.openxmlformats.org/officeDocument/2006/relationships/image" Target="../media/image3.sv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336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">
            <a:extLst>
              <a:ext uri="{FF2B5EF4-FFF2-40B4-BE49-F238E27FC236}">
                <a16:creationId xmlns:a16="http://schemas.microsoft.com/office/drawing/2014/main" id="{371111E6-6705-4296-8D16-E6AF614A599D}"/>
              </a:ext>
            </a:extLst>
          </p:cNvPr>
          <p:cNvSpPr/>
          <p:nvPr/>
        </p:nvSpPr>
        <p:spPr>
          <a:xfrm rot="-5400000">
            <a:off x="3080933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4000">
                <a:schemeClr val="accent1">
                  <a:lumMod val="45000"/>
                  <a:lumOff val="55000"/>
                  <a:alpha val="30000"/>
                </a:schemeClr>
              </a:gs>
              <a:gs pos="100000">
                <a:schemeClr val="bg1"/>
              </a:gs>
            </a:gsLst>
            <a:lin ang="5400000" scaled="1"/>
          </a:gradFill>
        </p:spPr>
        <p:txBody>
          <a:bodyPr/>
          <a:lstStyle/>
          <a:p>
            <a:endParaRPr lang="en-US"/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61F0651B-9C83-4DC9-B737-AE0C73C734F7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6559AF4-3D16-45D2-8453-5893E2040BEA}"/>
              </a:ext>
            </a:extLst>
          </p:cNvPr>
          <p:cNvGrpSpPr/>
          <p:nvPr/>
        </p:nvGrpSpPr>
        <p:grpSpPr>
          <a:xfrm>
            <a:off x="413934" y="538642"/>
            <a:ext cx="10915343" cy="834529"/>
            <a:chOff x="594809" y="467332"/>
            <a:chExt cx="10915343" cy="834529"/>
          </a:xfrm>
        </p:grpSpPr>
        <p:grpSp>
          <p:nvGrpSpPr>
            <p:cNvPr id="22" name="Group 14">
              <a:extLst>
                <a:ext uri="{FF2B5EF4-FFF2-40B4-BE49-F238E27FC236}">
                  <a16:creationId xmlns:a16="http://schemas.microsoft.com/office/drawing/2014/main" id="{AC8122FE-60FC-4697-8245-B87AC72BA75F}"/>
                </a:ext>
              </a:extLst>
            </p:cNvPr>
            <p:cNvGrpSpPr/>
            <p:nvPr/>
          </p:nvGrpSpPr>
          <p:grpSpPr>
            <a:xfrm rot="5400000">
              <a:off x="5640779" y="-4567513"/>
              <a:ext cx="823404" cy="10915343"/>
              <a:chOff x="0" y="0"/>
              <a:chExt cx="169362" cy="3336908"/>
            </a:xfrm>
          </p:grpSpPr>
          <p:sp>
            <p:nvSpPr>
              <p:cNvPr id="26" name="Freeform 15">
                <a:extLst>
                  <a:ext uri="{FF2B5EF4-FFF2-40B4-BE49-F238E27FC236}">
                    <a16:creationId xmlns:a16="http://schemas.microsoft.com/office/drawing/2014/main" id="{7866F623-98E0-456F-BD2C-6B08EFE19D83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16">
                <a:extLst>
                  <a:ext uri="{FF2B5EF4-FFF2-40B4-BE49-F238E27FC236}">
                    <a16:creationId xmlns:a16="http://schemas.microsoft.com/office/drawing/2014/main" id="{AA5ADBF2-A79C-46FB-BCFB-0305D658121A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EEC1CFD-17E2-4D6E-BDAA-88E62E327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415FB8D-EA8B-4086-A28F-9852E659368E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F7F7C60-76FF-479B-8064-8399ABFEF5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0593288-FC88-4A30-BFC9-6F3F3B74CC9C}"/>
              </a:ext>
            </a:extLst>
          </p:cNvPr>
          <p:cNvSpPr/>
          <p:nvPr/>
        </p:nvSpPr>
        <p:spPr>
          <a:xfrm>
            <a:off x="544308" y="5969981"/>
            <a:ext cx="10544402" cy="141514"/>
          </a:xfrm>
          <a:prstGeom prst="rect">
            <a:avLst/>
          </a:prstGeom>
          <a:solidFill>
            <a:srgbClr val="0073D5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13">
            <a:extLst>
              <a:ext uri="{FF2B5EF4-FFF2-40B4-BE49-F238E27FC236}">
                <a16:creationId xmlns:a16="http://schemas.microsoft.com/office/drawing/2014/main" id="{90E71E99-8C42-439F-B4E3-10E55F646141}"/>
              </a:ext>
            </a:extLst>
          </p:cNvPr>
          <p:cNvSpPr/>
          <p:nvPr/>
        </p:nvSpPr>
        <p:spPr>
          <a:xfrm rot="16200000">
            <a:off x="180101" y="5978521"/>
            <a:ext cx="728414" cy="718398"/>
          </a:xfrm>
          <a:custGeom>
            <a:avLst/>
            <a:gdLst/>
            <a:ahLst/>
            <a:cxnLst/>
            <a:rect l="l" t="t" r="r" b="b"/>
            <a:pathLst>
              <a:path w="1196501" h="1180049">
                <a:moveTo>
                  <a:pt x="0" y="0"/>
                </a:moveTo>
                <a:lnTo>
                  <a:pt x="1196500" y="0"/>
                </a:lnTo>
                <a:lnTo>
                  <a:pt x="1196500" y="1180049"/>
                </a:lnTo>
                <a:lnTo>
                  <a:pt x="0" y="1180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2" name="Group 4">
            <a:extLst>
              <a:ext uri="{FF2B5EF4-FFF2-40B4-BE49-F238E27FC236}">
                <a16:creationId xmlns:a16="http://schemas.microsoft.com/office/drawing/2014/main" id="{C9B82BDB-7103-4057-8963-073E5BC77758}"/>
              </a:ext>
            </a:extLst>
          </p:cNvPr>
          <p:cNvGrpSpPr/>
          <p:nvPr/>
        </p:nvGrpSpPr>
        <p:grpSpPr>
          <a:xfrm>
            <a:off x="413933" y="2154555"/>
            <a:ext cx="10803565" cy="1074976"/>
            <a:chOff x="0" y="0"/>
            <a:chExt cx="3362874" cy="603714"/>
          </a:xfrm>
          <a:solidFill>
            <a:srgbClr val="0073D5"/>
          </a:solidFill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8276CED7-66A4-4A81-B29B-9F336CF6BA35}"/>
                </a:ext>
              </a:extLst>
            </p:cNvPr>
            <p:cNvSpPr/>
            <p:nvPr/>
          </p:nvSpPr>
          <p:spPr>
            <a:xfrm>
              <a:off x="0" y="0"/>
              <a:ext cx="3362874" cy="603714"/>
            </a:xfrm>
            <a:prstGeom prst="roundRect">
              <a:avLst/>
            </a:pr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6">
              <a:extLst>
                <a:ext uri="{FF2B5EF4-FFF2-40B4-BE49-F238E27FC236}">
                  <a16:creationId xmlns:a16="http://schemas.microsoft.com/office/drawing/2014/main" id="{7EE4943B-DDD4-4441-A6CC-2EEA94E6C6BE}"/>
                </a:ext>
              </a:extLst>
            </p:cNvPr>
            <p:cNvSpPr txBox="1"/>
            <p:nvPr/>
          </p:nvSpPr>
          <p:spPr>
            <a:xfrm>
              <a:off x="0" y="-38100"/>
              <a:ext cx="3362874" cy="641814"/>
            </a:xfrm>
            <a:prstGeom prst="roundRect">
              <a:avLst/>
            </a:prstGeom>
            <a:grpFill/>
          </p:spPr>
          <p:txBody>
            <a:bodyPr lIns="30175" tIns="30175" rIns="30175" bIns="30175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4D8DA23-84A6-7EFA-D2B2-8EA7DFD95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08" y="2220818"/>
            <a:ext cx="1054440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NGHIÊN CỨU MÔ HÌNH ENSEMBLE TỐI ƯU HÓA CHO MÔI</a:t>
            </a:r>
            <a:r>
              <a:rPr lang="en-US" altLang="en-US" sz="2500" dirty="0">
                <a:cs typeface="Arial" panose="020B0604020202020204" pitchFamily="34" charset="0"/>
              </a:rPr>
              <a:t>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TRƯỜNG CÓ TÀI NGUYÊN HẠN CHẾ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984ECF-B63D-C069-4BCB-7144DE8BE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678081"/>
              </p:ext>
            </p:extLst>
          </p:nvPr>
        </p:nvGraphicFramePr>
        <p:xfrm>
          <a:off x="1909411" y="3742193"/>
          <a:ext cx="7494681" cy="88942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97950">
                  <a:extLst>
                    <a:ext uri="{9D8B030D-6E8A-4147-A177-3AD203B41FA5}">
                      <a16:colId xmlns:a16="http://schemas.microsoft.com/office/drawing/2014/main" val="2699154890"/>
                    </a:ext>
                  </a:extLst>
                </a:gridCol>
                <a:gridCol w="2497950">
                  <a:extLst>
                    <a:ext uri="{9D8B030D-6E8A-4147-A177-3AD203B41FA5}">
                      <a16:colId xmlns:a16="http://schemas.microsoft.com/office/drawing/2014/main" val="1390156083"/>
                    </a:ext>
                  </a:extLst>
                </a:gridCol>
                <a:gridCol w="2498781">
                  <a:extLst>
                    <a:ext uri="{9D8B030D-6E8A-4147-A177-3AD203B41FA5}">
                      <a16:colId xmlns:a16="http://schemas.microsoft.com/office/drawing/2014/main" val="4126616828"/>
                    </a:ext>
                  </a:extLst>
                </a:gridCol>
              </a:tblGrid>
              <a:tr h="8894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 </a:t>
                      </a:r>
                      <a:r>
                        <a:rPr lang="vi-VN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Võ Anh Nhật</a:t>
                      </a:r>
                      <a:b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Viện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nghệ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tin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điện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điện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tử</a:t>
                      </a:r>
                      <a:endParaRPr lang="en-GB" sz="1400" b="1" kern="100" dirty="0">
                        <a:solidFill>
                          <a:srgbClr val="122C9E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Dư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Quốc Việt</a:t>
                      </a:r>
                      <a:b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Viện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nghệ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tin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điện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điện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tử</a:t>
                      </a:r>
                      <a:endParaRPr lang="en-GB" sz="1400" b="1" kern="100" dirty="0">
                        <a:solidFill>
                          <a:srgbClr val="122C9E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1333500" algn="l"/>
                        </a:tabLst>
                      </a:pPr>
                      <a:r>
                        <a:rPr lang="vi-VN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Võ Huỳnh Anh Tuấn</a:t>
                      </a:r>
                      <a:b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Viện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nghệ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tin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điện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điện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tử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GB" sz="1400" b="1" kern="100" dirty="0">
                        <a:solidFill>
                          <a:srgbClr val="122C9E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956428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08EF809-AF76-10CA-DE76-684978B20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294159"/>
              </p:ext>
            </p:extLst>
          </p:nvPr>
        </p:nvGraphicFramePr>
        <p:xfrm>
          <a:off x="2870142" y="4720209"/>
          <a:ext cx="5725160" cy="71520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62580">
                  <a:extLst>
                    <a:ext uri="{9D8B030D-6E8A-4147-A177-3AD203B41FA5}">
                      <a16:colId xmlns:a16="http://schemas.microsoft.com/office/drawing/2014/main" val="2130440475"/>
                    </a:ext>
                  </a:extLst>
                </a:gridCol>
                <a:gridCol w="2862580">
                  <a:extLst>
                    <a:ext uri="{9D8B030D-6E8A-4147-A177-3AD203B41FA5}">
                      <a16:colId xmlns:a16="http://schemas.microsoft.com/office/drawing/2014/main" val="3435436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Trương Hoài Tú</a:t>
                      </a:r>
                      <a:b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Viện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nghệ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tin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điện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điện</a:t>
                      </a:r>
                      <a:r>
                        <a:rPr lang="en-US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1" kern="100" dirty="0" err="1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tử</a:t>
                      </a:r>
                      <a:endParaRPr lang="en-GB" sz="1400" b="1" kern="100" dirty="0">
                        <a:solidFill>
                          <a:srgbClr val="122C9E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vi-VN" sz="1400" b="1" kern="100" dirty="0">
                          <a:solidFill>
                            <a:srgbClr val="122C9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Trần Anh</a:t>
                      </a:r>
                      <a:endParaRPr lang="en-GB" sz="1400" b="1" kern="100" dirty="0">
                        <a:solidFill>
                          <a:srgbClr val="122C9E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22068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2">
            <a:extLst>
              <a:ext uri="{FF2B5EF4-FFF2-40B4-BE49-F238E27FC236}">
                <a16:creationId xmlns:a16="http://schemas.microsoft.com/office/drawing/2014/main" id="{F33CA548-12BA-4285-8DC5-6077D527CFDC}"/>
              </a:ext>
            </a:extLst>
          </p:cNvPr>
          <p:cNvSpPr/>
          <p:nvPr/>
        </p:nvSpPr>
        <p:spPr>
          <a:xfrm rot="-5400000">
            <a:off x="2663602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4000">
                <a:schemeClr val="accent1">
                  <a:lumMod val="45000"/>
                  <a:lumOff val="55000"/>
                  <a:alpha val="38000"/>
                </a:schemeClr>
              </a:gs>
              <a:gs pos="100000">
                <a:schemeClr val="bg1"/>
              </a:gs>
            </a:gsLst>
            <a:lin ang="5400000" scaled="1"/>
          </a:gradFill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CC25D3-37CE-4DA1-B79B-46E8DBB84302}"/>
              </a:ext>
            </a:extLst>
          </p:cNvPr>
          <p:cNvSpPr txBox="1"/>
          <p:nvPr/>
        </p:nvSpPr>
        <p:spPr>
          <a:xfrm>
            <a:off x="642516" y="530447"/>
            <a:ext cx="4323241" cy="1333698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algn="l">
              <a:lnSpc>
                <a:spcPts val="12564"/>
              </a:lnSpc>
            </a:pPr>
            <a:r>
              <a:rPr lang="en-GB" sz="3600" b="1" dirty="0">
                <a:solidFill>
                  <a:srgbClr val="122C9E"/>
                </a:solidFill>
                <a:latin typeface="Arial" panose="020B0604020202020204" pitchFamily="34" charset="0"/>
                <a:ea typeface="Barlow Condensed Heavy"/>
                <a:cs typeface="Arial" panose="020B0604020202020204" pitchFamily="34" charset="0"/>
                <a:sym typeface="Barlow Condensed Heavy"/>
              </a:rPr>
              <a:t>NỘI DUNG CHÍNH</a:t>
            </a:r>
            <a:endParaRPr lang="en-US" sz="3600" b="1" dirty="0">
              <a:solidFill>
                <a:srgbClr val="122C9E"/>
              </a:solidFill>
              <a:latin typeface="Arial" panose="020B0604020202020204" pitchFamily="34" charset="0"/>
              <a:ea typeface="Barlow Condensed Heavy"/>
              <a:cs typeface="Arial" panose="020B0604020202020204" pitchFamily="34" charset="0"/>
              <a:sym typeface="Barlow Condensed Heavy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A66F92E7-285A-416A-ABF4-6B8D548895A5}"/>
              </a:ext>
            </a:extLst>
          </p:cNvPr>
          <p:cNvGrpSpPr/>
          <p:nvPr/>
        </p:nvGrpSpPr>
        <p:grpSpPr>
          <a:xfrm>
            <a:off x="697175" y="2197922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FDB3CE9E-B2E9-4167-B747-E3A2156CE5E1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F1AB972A-C277-403A-9AF2-6AE8A2F334C3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TextBox 21">
            <a:extLst>
              <a:ext uri="{FF2B5EF4-FFF2-40B4-BE49-F238E27FC236}">
                <a16:creationId xmlns:a16="http://schemas.microsoft.com/office/drawing/2014/main" id="{EADDED3E-0ECF-4297-9DD0-BD3E0ACCAF1D}"/>
              </a:ext>
            </a:extLst>
          </p:cNvPr>
          <p:cNvSpPr txBox="1"/>
          <p:nvPr/>
        </p:nvSpPr>
        <p:spPr>
          <a:xfrm>
            <a:off x="1588853" y="2314404"/>
            <a:ext cx="3649990" cy="335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GB" sz="2000" b="1" dirty="0">
                <a:solidFill>
                  <a:srgbClr val="122C9E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G</a:t>
            </a:r>
            <a:r>
              <a:rPr lang="en-US" sz="2000" b="1" dirty="0" err="1">
                <a:solidFill>
                  <a:srgbClr val="122C9E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iới</a:t>
            </a:r>
            <a:r>
              <a:rPr lang="en-US" sz="2000" b="1" dirty="0">
                <a:solidFill>
                  <a:srgbClr val="122C9E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 </a:t>
            </a:r>
            <a:r>
              <a:rPr lang="en-US" sz="2000" b="1" dirty="0" err="1">
                <a:solidFill>
                  <a:srgbClr val="122C9E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thiệu</a:t>
            </a:r>
            <a:r>
              <a:rPr lang="en-US" sz="2000" b="1" dirty="0">
                <a:solidFill>
                  <a:srgbClr val="122C9E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 &amp; </a:t>
            </a:r>
            <a:r>
              <a:rPr lang="en-US" sz="2000" b="1" dirty="0" err="1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000" b="1" dirty="0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sz="2000" b="1" dirty="0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b="1" dirty="0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endParaRPr lang="en-US" sz="2000" b="1" dirty="0">
              <a:solidFill>
                <a:srgbClr val="122C9E"/>
              </a:solidFill>
              <a:latin typeface="Arial" panose="020B0604020202020204" pitchFamily="34" charset="0"/>
              <a:ea typeface="Aileron Ultra-Bold"/>
              <a:cs typeface="Arial" panose="020B0604020202020204" pitchFamily="34" charset="0"/>
              <a:sym typeface="Aileron Ultra-Bold"/>
            </a:endParaRPr>
          </a:p>
        </p:txBody>
      </p:sp>
      <p:sp>
        <p:nvSpPr>
          <p:cNvPr id="35" name="TextBox 21">
            <a:extLst>
              <a:ext uri="{FF2B5EF4-FFF2-40B4-BE49-F238E27FC236}">
                <a16:creationId xmlns:a16="http://schemas.microsoft.com/office/drawing/2014/main" id="{AF888B46-0B0C-4281-88F0-416C174F1E4A}"/>
              </a:ext>
            </a:extLst>
          </p:cNvPr>
          <p:cNvSpPr txBox="1"/>
          <p:nvPr/>
        </p:nvSpPr>
        <p:spPr>
          <a:xfrm>
            <a:off x="1588853" y="2900438"/>
            <a:ext cx="5276404" cy="327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2800"/>
              </a:lnSpc>
              <a:defRPr sz="2000" b="1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</a:defRPr>
            </a:lvl1pPr>
          </a:lstStyle>
          <a:p>
            <a:r>
              <a:rPr lang="vi-VN" dirty="0">
                <a:solidFill>
                  <a:srgbClr val="122C9E"/>
                </a:solidFill>
              </a:rPr>
              <a:t>Giải pháp đề xuất</a:t>
            </a:r>
            <a:endParaRPr lang="en-US" dirty="0">
              <a:solidFill>
                <a:srgbClr val="122C9E"/>
              </a:solidFill>
            </a:endParaRPr>
          </a:p>
        </p:txBody>
      </p:sp>
      <p:grpSp>
        <p:nvGrpSpPr>
          <p:cNvPr id="36" name="Group 2">
            <a:extLst>
              <a:ext uri="{FF2B5EF4-FFF2-40B4-BE49-F238E27FC236}">
                <a16:creationId xmlns:a16="http://schemas.microsoft.com/office/drawing/2014/main" id="{D9EE8839-09B6-4E92-B72A-8FC613A4448A}"/>
              </a:ext>
            </a:extLst>
          </p:cNvPr>
          <p:cNvGrpSpPr/>
          <p:nvPr/>
        </p:nvGrpSpPr>
        <p:grpSpPr>
          <a:xfrm>
            <a:off x="697175" y="2780302"/>
            <a:ext cx="565567" cy="603860"/>
            <a:chOff x="0" y="-47625"/>
            <a:chExt cx="274792" cy="32241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Freeform 3">
              <a:extLst>
                <a:ext uri="{FF2B5EF4-FFF2-40B4-BE49-F238E27FC236}">
                  <a16:creationId xmlns:a16="http://schemas.microsoft.com/office/drawing/2014/main" id="{8BD1AA08-6068-4445-BF22-B25B0DA0BA1F}"/>
                </a:ext>
              </a:extLst>
            </p:cNvPr>
            <p:cNvSpPr/>
            <p:nvPr/>
          </p:nvSpPr>
          <p:spPr>
            <a:xfrm>
              <a:off x="0" y="-34325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4">
              <a:extLst>
                <a:ext uri="{FF2B5EF4-FFF2-40B4-BE49-F238E27FC236}">
                  <a16:creationId xmlns:a16="http://schemas.microsoft.com/office/drawing/2014/main" id="{42744258-0B28-4DA5-A6AC-6E30A7ACCB85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9" name="TextBox 21">
            <a:extLst>
              <a:ext uri="{FF2B5EF4-FFF2-40B4-BE49-F238E27FC236}">
                <a16:creationId xmlns:a16="http://schemas.microsoft.com/office/drawing/2014/main" id="{317B0DCA-4925-4191-9165-14F78E0EF471}"/>
              </a:ext>
            </a:extLst>
          </p:cNvPr>
          <p:cNvSpPr txBox="1"/>
          <p:nvPr/>
        </p:nvSpPr>
        <p:spPr>
          <a:xfrm>
            <a:off x="1588853" y="3513943"/>
            <a:ext cx="5276404" cy="327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2800"/>
              </a:lnSpc>
              <a:defRPr sz="2000" b="1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</a:defRPr>
            </a:lvl1pPr>
          </a:lstStyle>
          <a:p>
            <a:r>
              <a:rPr lang="vi-VN" dirty="0">
                <a:solidFill>
                  <a:srgbClr val="122C9E"/>
                </a:solidFill>
              </a:rPr>
              <a:t>Quy trình xử lý</a:t>
            </a:r>
          </a:p>
        </p:txBody>
      </p:sp>
      <p:grpSp>
        <p:nvGrpSpPr>
          <p:cNvPr id="40" name="Group 2">
            <a:extLst>
              <a:ext uri="{FF2B5EF4-FFF2-40B4-BE49-F238E27FC236}">
                <a16:creationId xmlns:a16="http://schemas.microsoft.com/office/drawing/2014/main" id="{3AA97623-E1EC-4622-A319-74671B794F44}"/>
              </a:ext>
            </a:extLst>
          </p:cNvPr>
          <p:cNvGrpSpPr/>
          <p:nvPr/>
        </p:nvGrpSpPr>
        <p:grpSpPr>
          <a:xfrm>
            <a:off x="697174" y="3331274"/>
            <a:ext cx="565567" cy="603859"/>
            <a:chOff x="0" y="-47625"/>
            <a:chExt cx="274792" cy="32241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4B1AEC91-BDCB-4306-85DC-256B0B59AFD2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Box 4">
              <a:extLst>
                <a:ext uri="{FF2B5EF4-FFF2-40B4-BE49-F238E27FC236}">
                  <a16:creationId xmlns:a16="http://schemas.microsoft.com/office/drawing/2014/main" id="{CAD63BB2-23E3-47B4-93DD-1DBD48D92007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TextBox 21">
            <a:extLst>
              <a:ext uri="{FF2B5EF4-FFF2-40B4-BE49-F238E27FC236}">
                <a16:creationId xmlns:a16="http://schemas.microsoft.com/office/drawing/2014/main" id="{5954E9A7-35B3-4806-891A-BF8658B00336}"/>
              </a:ext>
            </a:extLst>
          </p:cNvPr>
          <p:cNvSpPr txBox="1"/>
          <p:nvPr/>
        </p:nvSpPr>
        <p:spPr>
          <a:xfrm>
            <a:off x="1588853" y="4124487"/>
            <a:ext cx="5276404" cy="327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2800"/>
              </a:lnSpc>
              <a:defRPr sz="2000" b="1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</a:defRPr>
            </a:lvl1pPr>
          </a:lstStyle>
          <a:p>
            <a:r>
              <a:rPr lang="vi-VN" dirty="0">
                <a:solidFill>
                  <a:srgbClr val="122C9E"/>
                </a:solidFill>
              </a:rPr>
              <a:t>Sơ đồ xử lý Stacking Ensemble</a:t>
            </a:r>
          </a:p>
        </p:txBody>
      </p:sp>
      <p:grpSp>
        <p:nvGrpSpPr>
          <p:cNvPr id="44" name="Group 2">
            <a:extLst>
              <a:ext uri="{FF2B5EF4-FFF2-40B4-BE49-F238E27FC236}">
                <a16:creationId xmlns:a16="http://schemas.microsoft.com/office/drawing/2014/main" id="{477899CC-2516-498E-B95F-D75F3CD48926}"/>
              </a:ext>
            </a:extLst>
          </p:cNvPr>
          <p:cNvGrpSpPr/>
          <p:nvPr/>
        </p:nvGrpSpPr>
        <p:grpSpPr>
          <a:xfrm>
            <a:off x="697174" y="4029119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0079A3F9-8B64-40E4-B73A-C5ABE580718C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3DAA0184-3A73-40CF-B93B-A06A74F3B0C6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7" name="TextBox 21">
            <a:extLst>
              <a:ext uri="{FF2B5EF4-FFF2-40B4-BE49-F238E27FC236}">
                <a16:creationId xmlns:a16="http://schemas.microsoft.com/office/drawing/2014/main" id="{A72CA025-446C-4F1A-97BA-21365C5469EE}"/>
              </a:ext>
            </a:extLst>
          </p:cNvPr>
          <p:cNvSpPr txBox="1"/>
          <p:nvPr/>
        </p:nvSpPr>
        <p:spPr>
          <a:xfrm>
            <a:off x="1588853" y="4710958"/>
            <a:ext cx="5276404" cy="327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2800"/>
              </a:lnSpc>
              <a:defRPr sz="2000" b="1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</a:defRPr>
            </a:lvl1pPr>
          </a:lstStyle>
          <a:p>
            <a:r>
              <a:rPr lang="vi-VN" dirty="0">
                <a:solidFill>
                  <a:srgbClr val="122C9E"/>
                </a:solidFill>
              </a:rPr>
              <a:t>Sơ đồ dự đoán</a:t>
            </a:r>
          </a:p>
        </p:txBody>
      </p:sp>
      <p:grpSp>
        <p:nvGrpSpPr>
          <p:cNvPr id="48" name="Group 2">
            <a:extLst>
              <a:ext uri="{FF2B5EF4-FFF2-40B4-BE49-F238E27FC236}">
                <a16:creationId xmlns:a16="http://schemas.microsoft.com/office/drawing/2014/main" id="{4D9F07BA-8A46-43A5-BE12-E2910016FCEB}"/>
              </a:ext>
            </a:extLst>
          </p:cNvPr>
          <p:cNvGrpSpPr/>
          <p:nvPr/>
        </p:nvGrpSpPr>
        <p:grpSpPr>
          <a:xfrm>
            <a:off x="697174" y="4617486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9" name="Freeform 3">
              <a:extLst>
                <a:ext uri="{FF2B5EF4-FFF2-40B4-BE49-F238E27FC236}">
                  <a16:creationId xmlns:a16="http://schemas.microsoft.com/office/drawing/2014/main" id="{104CA612-B6B5-4BD8-8859-2DEF31EAEF77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4">
              <a:extLst>
                <a:ext uri="{FF2B5EF4-FFF2-40B4-BE49-F238E27FC236}">
                  <a16:creationId xmlns:a16="http://schemas.microsoft.com/office/drawing/2014/main" id="{83EC75C8-8A66-44D3-A9F3-2CC7EDBC1508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Freeform 3">
            <a:extLst>
              <a:ext uri="{FF2B5EF4-FFF2-40B4-BE49-F238E27FC236}">
                <a16:creationId xmlns:a16="http://schemas.microsoft.com/office/drawing/2014/main" id="{5B2A5034-DE4B-48AD-B2F3-618F83D629D6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31DB5858-7276-4E25-94EB-DE29A1E52DB3}"/>
              </a:ext>
            </a:extLst>
          </p:cNvPr>
          <p:cNvSpPr/>
          <p:nvPr/>
        </p:nvSpPr>
        <p:spPr>
          <a:xfrm rot="16200000">
            <a:off x="180101" y="5978521"/>
            <a:ext cx="728414" cy="718398"/>
          </a:xfrm>
          <a:custGeom>
            <a:avLst/>
            <a:gdLst/>
            <a:ahLst/>
            <a:cxnLst/>
            <a:rect l="l" t="t" r="r" b="b"/>
            <a:pathLst>
              <a:path w="1196501" h="1180049">
                <a:moveTo>
                  <a:pt x="0" y="0"/>
                </a:moveTo>
                <a:lnTo>
                  <a:pt x="1196500" y="0"/>
                </a:lnTo>
                <a:lnTo>
                  <a:pt x="1196500" y="1180049"/>
                </a:lnTo>
                <a:lnTo>
                  <a:pt x="0" y="1180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AEBD95E-6E64-4650-9935-C3D0243E4D8D}"/>
              </a:ext>
            </a:extLst>
          </p:cNvPr>
          <p:cNvGrpSpPr/>
          <p:nvPr/>
        </p:nvGrpSpPr>
        <p:grpSpPr>
          <a:xfrm>
            <a:off x="344129" y="243085"/>
            <a:ext cx="10569678" cy="834528"/>
            <a:chOff x="514237" y="467332"/>
            <a:chExt cx="11102286" cy="834528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C382E0C5-9D41-4CDE-B61F-BBE1BFBDA136}"/>
                </a:ext>
              </a:extLst>
            </p:cNvPr>
            <p:cNvGrpSpPr/>
            <p:nvPr/>
          </p:nvGrpSpPr>
          <p:grpSpPr>
            <a:xfrm rot="5400000">
              <a:off x="5653678" y="-4660985"/>
              <a:ext cx="823404" cy="11102286"/>
              <a:chOff x="0" y="-32519"/>
              <a:chExt cx="169362" cy="3394058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B9B0BB56-5544-42FC-822F-281C2295DCFF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F7CF56CA-E1F9-468B-89D0-C9C1AC647D81}"/>
                  </a:ext>
                </a:extLst>
              </p:cNvPr>
              <p:cNvSpPr txBox="1"/>
              <p:nvPr/>
            </p:nvSpPr>
            <p:spPr>
              <a:xfrm>
                <a:off x="0" y="-32519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C0546D2-722E-431B-B9F7-64837125D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20ED30-60AF-4C6F-8374-4509259F1265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EE875391-E0F4-46E1-A1D4-F2E34F4FC0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sp>
        <p:nvSpPr>
          <p:cNvPr id="3" name="Freeform 3">
            <a:extLst>
              <a:ext uri="{FF2B5EF4-FFF2-40B4-BE49-F238E27FC236}">
                <a16:creationId xmlns:a16="http://schemas.microsoft.com/office/drawing/2014/main" id="{8E059425-DD98-0F43-60DE-0051DFF363AA}"/>
              </a:ext>
            </a:extLst>
          </p:cNvPr>
          <p:cNvSpPr/>
          <p:nvPr/>
        </p:nvSpPr>
        <p:spPr>
          <a:xfrm>
            <a:off x="697174" y="5199865"/>
            <a:ext cx="565567" cy="514662"/>
          </a:xfrm>
          <a:custGeom>
            <a:avLst/>
            <a:gdLst/>
            <a:ahLst/>
            <a:cxnLst/>
            <a:rect l="l" t="t" r="r" b="b"/>
            <a:pathLst>
              <a:path w="274792" h="274792">
                <a:moveTo>
                  <a:pt x="74202" y="0"/>
                </a:moveTo>
                <a:lnTo>
                  <a:pt x="200590" y="0"/>
                </a:lnTo>
                <a:cubicBezTo>
                  <a:pt x="220269" y="0"/>
                  <a:pt x="239143" y="7818"/>
                  <a:pt x="253059" y="21733"/>
                </a:cubicBezTo>
                <a:cubicBezTo>
                  <a:pt x="266974" y="35649"/>
                  <a:pt x="274792" y="54523"/>
                  <a:pt x="274792" y="74202"/>
                </a:cubicBezTo>
                <a:lnTo>
                  <a:pt x="274792" y="200590"/>
                </a:lnTo>
                <a:cubicBezTo>
                  <a:pt x="274792" y="220269"/>
                  <a:pt x="266974" y="239143"/>
                  <a:pt x="253059" y="253059"/>
                </a:cubicBezTo>
                <a:cubicBezTo>
                  <a:pt x="239143" y="266974"/>
                  <a:pt x="220269" y="274792"/>
                  <a:pt x="200590" y="274792"/>
                </a:cubicBezTo>
                <a:lnTo>
                  <a:pt x="74202" y="274792"/>
                </a:lnTo>
                <a:cubicBezTo>
                  <a:pt x="54523" y="274792"/>
                  <a:pt x="35649" y="266974"/>
                  <a:pt x="21733" y="253059"/>
                </a:cubicBezTo>
                <a:cubicBezTo>
                  <a:pt x="7818" y="239143"/>
                  <a:pt x="0" y="220269"/>
                  <a:pt x="0" y="200590"/>
                </a:cubicBezTo>
                <a:lnTo>
                  <a:pt x="0" y="74202"/>
                </a:lnTo>
                <a:cubicBezTo>
                  <a:pt x="0" y="54523"/>
                  <a:pt x="7818" y="35649"/>
                  <a:pt x="21733" y="21733"/>
                </a:cubicBezTo>
                <a:cubicBezTo>
                  <a:pt x="35649" y="7818"/>
                  <a:pt x="54523" y="0"/>
                  <a:pt x="74202" y="0"/>
                </a:cubicBezTo>
                <a:close/>
              </a:path>
            </a:pathLst>
          </a:custGeom>
          <a:solidFill>
            <a:srgbClr val="0073D5"/>
          </a:solidFill>
        </p:spPr>
        <p:txBody>
          <a:bodyPr anchor="ctr" anchorCtr="0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CD10F6D-3DBE-CCAE-A54A-1F66498F44FE}"/>
              </a:ext>
            </a:extLst>
          </p:cNvPr>
          <p:cNvSpPr/>
          <p:nvPr/>
        </p:nvSpPr>
        <p:spPr>
          <a:xfrm>
            <a:off x="697174" y="5782244"/>
            <a:ext cx="565567" cy="514662"/>
          </a:xfrm>
          <a:custGeom>
            <a:avLst/>
            <a:gdLst/>
            <a:ahLst/>
            <a:cxnLst/>
            <a:rect l="l" t="t" r="r" b="b"/>
            <a:pathLst>
              <a:path w="274792" h="274792">
                <a:moveTo>
                  <a:pt x="74202" y="0"/>
                </a:moveTo>
                <a:lnTo>
                  <a:pt x="200590" y="0"/>
                </a:lnTo>
                <a:cubicBezTo>
                  <a:pt x="220269" y="0"/>
                  <a:pt x="239143" y="7818"/>
                  <a:pt x="253059" y="21733"/>
                </a:cubicBezTo>
                <a:cubicBezTo>
                  <a:pt x="266974" y="35649"/>
                  <a:pt x="274792" y="54523"/>
                  <a:pt x="274792" y="74202"/>
                </a:cubicBezTo>
                <a:lnTo>
                  <a:pt x="274792" y="200590"/>
                </a:lnTo>
                <a:cubicBezTo>
                  <a:pt x="274792" y="220269"/>
                  <a:pt x="266974" y="239143"/>
                  <a:pt x="253059" y="253059"/>
                </a:cubicBezTo>
                <a:cubicBezTo>
                  <a:pt x="239143" y="266974"/>
                  <a:pt x="220269" y="274792"/>
                  <a:pt x="200590" y="274792"/>
                </a:cubicBezTo>
                <a:lnTo>
                  <a:pt x="74202" y="274792"/>
                </a:lnTo>
                <a:cubicBezTo>
                  <a:pt x="54523" y="274792"/>
                  <a:pt x="35649" y="266974"/>
                  <a:pt x="21733" y="253059"/>
                </a:cubicBezTo>
                <a:cubicBezTo>
                  <a:pt x="7818" y="239143"/>
                  <a:pt x="0" y="220269"/>
                  <a:pt x="0" y="200590"/>
                </a:cubicBezTo>
                <a:lnTo>
                  <a:pt x="0" y="74202"/>
                </a:lnTo>
                <a:cubicBezTo>
                  <a:pt x="0" y="54523"/>
                  <a:pt x="7818" y="35649"/>
                  <a:pt x="21733" y="21733"/>
                </a:cubicBezTo>
                <a:cubicBezTo>
                  <a:pt x="35649" y="7818"/>
                  <a:pt x="54523" y="0"/>
                  <a:pt x="74202" y="0"/>
                </a:cubicBezTo>
                <a:close/>
              </a:path>
            </a:pathLst>
          </a:custGeom>
          <a:solidFill>
            <a:srgbClr val="0073D5"/>
          </a:solidFill>
        </p:spPr>
        <p:txBody>
          <a:bodyPr anchor="ctr" anchorCtr="0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21">
            <a:extLst>
              <a:ext uri="{FF2B5EF4-FFF2-40B4-BE49-F238E27FC236}">
                <a16:creationId xmlns:a16="http://schemas.microsoft.com/office/drawing/2014/main" id="{2B250031-4C60-B255-02DD-54123C3EBB61}"/>
              </a:ext>
            </a:extLst>
          </p:cNvPr>
          <p:cNvSpPr txBox="1"/>
          <p:nvPr/>
        </p:nvSpPr>
        <p:spPr>
          <a:xfrm>
            <a:off x="1588853" y="5293337"/>
            <a:ext cx="5276404" cy="327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2800"/>
              </a:lnSpc>
              <a:defRPr sz="2000" b="1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</a:defRPr>
            </a:lvl1pPr>
          </a:lstStyle>
          <a:p>
            <a:r>
              <a:rPr lang="vi-VN" dirty="0">
                <a:solidFill>
                  <a:srgbClr val="122C9E"/>
                </a:solidFill>
              </a:rPr>
              <a:t>Kết quả thực nghiệm và đánh giá</a:t>
            </a:r>
          </a:p>
        </p:txBody>
      </p:sp>
      <p:sp>
        <p:nvSpPr>
          <p:cNvPr id="6" name="TextBox 21">
            <a:extLst>
              <a:ext uri="{FF2B5EF4-FFF2-40B4-BE49-F238E27FC236}">
                <a16:creationId xmlns:a16="http://schemas.microsoft.com/office/drawing/2014/main" id="{2DC06A52-DA63-724B-43B7-D7C6C77571BF}"/>
              </a:ext>
            </a:extLst>
          </p:cNvPr>
          <p:cNvSpPr txBox="1"/>
          <p:nvPr/>
        </p:nvSpPr>
        <p:spPr>
          <a:xfrm>
            <a:off x="1588853" y="5875716"/>
            <a:ext cx="5276404" cy="327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2800"/>
              </a:lnSpc>
              <a:defRPr sz="2000" b="1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</a:defRPr>
            </a:lvl1pPr>
          </a:lstStyle>
          <a:p>
            <a:r>
              <a:rPr lang="vi-VN" dirty="0">
                <a:solidFill>
                  <a:srgbClr val="122C9E"/>
                </a:solidFill>
              </a:rPr>
              <a:t>Kết luận và hướng phát triển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826AAA-3235-9F13-9318-6A22D31A4F41}"/>
              </a:ext>
            </a:extLst>
          </p:cNvPr>
          <p:cNvSpPr/>
          <p:nvPr/>
        </p:nvSpPr>
        <p:spPr>
          <a:xfrm>
            <a:off x="578763" y="1928413"/>
            <a:ext cx="10219221" cy="81184"/>
          </a:xfrm>
          <a:prstGeom prst="rect">
            <a:avLst/>
          </a:prstGeom>
          <a:solidFill>
            <a:srgbClr val="0073D5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">
            <a:extLst>
              <a:ext uri="{FF2B5EF4-FFF2-40B4-BE49-F238E27FC236}">
                <a16:creationId xmlns:a16="http://schemas.microsoft.com/office/drawing/2014/main" id="{5B2A5034-DE4B-48AD-B2F3-618F83D629D6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31DB5858-7276-4E25-94EB-DE29A1E52DB3}"/>
              </a:ext>
            </a:extLst>
          </p:cNvPr>
          <p:cNvSpPr/>
          <p:nvPr/>
        </p:nvSpPr>
        <p:spPr>
          <a:xfrm rot="16200000">
            <a:off x="180101" y="5978521"/>
            <a:ext cx="728414" cy="718398"/>
          </a:xfrm>
          <a:custGeom>
            <a:avLst/>
            <a:gdLst/>
            <a:ahLst/>
            <a:cxnLst/>
            <a:rect l="l" t="t" r="r" b="b"/>
            <a:pathLst>
              <a:path w="1196501" h="1180049">
                <a:moveTo>
                  <a:pt x="0" y="0"/>
                </a:moveTo>
                <a:lnTo>
                  <a:pt x="1196500" y="0"/>
                </a:lnTo>
                <a:lnTo>
                  <a:pt x="1196500" y="1180049"/>
                </a:lnTo>
                <a:lnTo>
                  <a:pt x="0" y="1180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AEBD95E-6E64-4650-9935-C3D0243E4D8D}"/>
              </a:ext>
            </a:extLst>
          </p:cNvPr>
          <p:cNvGrpSpPr/>
          <p:nvPr/>
        </p:nvGrpSpPr>
        <p:grpSpPr>
          <a:xfrm>
            <a:off x="344129" y="243085"/>
            <a:ext cx="10569678" cy="834528"/>
            <a:chOff x="514237" y="467332"/>
            <a:chExt cx="11102286" cy="834528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C382E0C5-9D41-4CDE-B61F-BBE1BFBDA136}"/>
                </a:ext>
              </a:extLst>
            </p:cNvPr>
            <p:cNvGrpSpPr/>
            <p:nvPr/>
          </p:nvGrpSpPr>
          <p:grpSpPr>
            <a:xfrm rot="5400000">
              <a:off x="5653678" y="-4660985"/>
              <a:ext cx="823404" cy="11102286"/>
              <a:chOff x="0" y="-32519"/>
              <a:chExt cx="169362" cy="3394058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B9B0BB56-5544-42FC-822F-281C2295DCFF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F7CF56CA-E1F9-468B-89D0-C9C1AC647D81}"/>
                  </a:ext>
                </a:extLst>
              </p:cNvPr>
              <p:cNvSpPr txBox="1"/>
              <p:nvPr/>
            </p:nvSpPr>
            <p:spPr>
              <a:xfrm>
                <a:off x="0" y="-32519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C0546D2-722E-431B-B9F7-64837125D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20ED30-60AF-4C6F-8374-4509259F1265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EE875391-E0F4-46E1-A1D4-F2E34F4FC0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8B05E1D-3AEC-4CCB-BB97-666941CFB793}"/>
              </a:ext>
            </a:extLst>
          </p:cNvPr>
          <p:cNvSpPr/>
          <p:nvPr/>
        </p:nvSpPr>
        <p:spPr>
          <a:xfrm>
            <a:off x="593317" y="2120596"/>
            <a:ext cx="10219221" cy="81184"/>
          </a:xfrm>
          <a:prstGeom prst="rect">
            <a:avLst/>
          </a:prstGeom>
          <a:solidFill>
            <a:srgbClr val="0073D5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2">
            <a:extLst>
              <a:ext uri="{FF2B5EF4-FFF2-40B4-BE49-F238E27FC236}">
                <a16:creationId xmlns:a16="http://schemas.microsoft.com/office/drawing/2014/main" id="{3F49447B-FCB7-4C29-BE7C-ED0307846894}"/>
              </a:ext>
            </a:extLst>
          </p:cNvPr>
          <p:cNvGrpSpPr/>
          <p:nvPr/>
        </p:nvGrpSpPr>
        <p:grpSpPr>
          <a:xfrm>
            <a:off x="605167" y="1410672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Freeform 3">
              <a:extLst>
                <a:ext uri="{FF2B5EF4-FFF2-40B4-BE49-F238E27FC236}">
                  <a16:creationId xmlns:a16="http://schemas.microsoft.com/office/drawing/2014/main" id="{D0B2523E-3D9F-4EB4-BBAD-A23E118AEA4C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4">
              <a:extLst>
                <a:ext uri="{FF2B5EF4-FFF2-40B4-BE49-F238E27FC236}">
                  <a16:creationId xmlns:a16="http://schemas.microsoft.com/office/drawing/2014/main" id="{7CE4D212-131D-4395-8CB7-6A46BE36516F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27690DF2-9F3F-4F4B-8DC5-771F1006086A}"/>
              </a:ext>
            </a:extLst>
          </p:cNvPr>
          <p:cNvSpPr txBox="1"/>
          <p:nvPr/>
        </p:nvSpPr>
        <p:spPr>
          <a:xfrm>
            <a:off x="1406475" y="632101"/>
            <a:ext cx="7573235" cy="1333698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12564"/>
              </a:lnSpc>
            </a:pPr>
            <a:r>
              <a:rPr lang="en-GB" sz="3600" b="1" dirty="0">
                <a:solidFill>
                  <a:srgbClr val="122C9E"/>
                </a:solidFill>
                <a:latin typeface="Arial" panose="020B0604020202020204" pitchFamily="34" charset="0"/>
                <a:ea typeface="Barlow Condensed Heavy"/>
                <a:cs typeface="Arial" panose="020B0604020202020204" pitchFamily="34" charset="0"/>
                <a:sym typeface="Barlow Condensed Heavy"/>
              </a:rPr>
              <a:t>GIỚI THIỆU &amp; CƠ SỞ LÝ THUYẾT</a:t>
            </a:r>
            <a:endParaRPr lang="en-US" sz="3600" b="1" dirty="0">
              <a:solidFill>
                <a:srgbClr val="122C9E"/>
              </a:solidFill>
              <a:latin typeface="Arial" panose="020B0604020202020204" pitchFamily="34" charset="0"/>
              <a:ea typeface="Barlow Condensed Heavy"/>
              <a:cs typeface="Arial" panose="020B0604020202020204" pitchFamily="34" charset="0"/>
              <a:sym typeface="Barlow Condensed Heavy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65C8C9D-C8D8-18EB-4E4F-E21ADCCB8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08" y="2251034"/>
            <a:ext cx="1026823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báo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lượng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mưa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ngắn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bài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khó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do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phi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tuyến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cao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mất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cân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nhiều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0.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Tại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Đồng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Cửu Long,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nhu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cầu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báo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ổn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định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chạy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tầng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tài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nguyên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chế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rất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lớn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Vì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vậy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nghiên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cứu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lựa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chọn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học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tập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(Ensemble learning)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trọng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Stacking Ensemble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thuật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nền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gồm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CatBoost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Random Forest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thập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52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trạm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tại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Đồng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sông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Cửu Long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qua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bước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gộp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làm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sạch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đặc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trưng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chuẩn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huấn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luyện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chiến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lược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OOF (Out-Of-Fold)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TimeSeriesSplit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triển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khai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VN Weather Hub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kiến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trúc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tầng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0428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34E1A-286C-3069-91FA-9F4992984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">
            <a:extLst>
              <a:ext uri="{FF2B5EF4-FFF2-40B4-BE49-F238E27FC236}">
                <a16:creationId xmlns:a16="http://schemas.microsoft.com/office/drawing/2014/main" id="{2F577F4F-A0FE-417A-B17E-251042E0F876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8FAFEF9C-9DAF-C2A6-1CB3-AB0527980D3A}"/>
              </a:ext>
            </a:extLst>
          </p:cNvPr>
          <p:cNvSpPr/>
          <p:nvPr/>
        </p:nvSpPr>
        <p:spPr>
          <a:xfrm rot="16200000">
            <a:off x="180101" y="5978521"/>
            <a:ext cx="728414" cy="718398"/>
          </a:xfrm>
          <a:custGeom>
            <a:avLst/>
            <a:gdLst/>
            <a:ahLst/>
            <a:cxnLst/>
            <a:rect l="l" t="t" r="r" b="b"/>
            <a:pathLst>
              <a:path w="1196501" h="1180049">
                <a:moveTo>
                  <a:pt x="0" y="0"/>
                </a:moveTo>
                <a:lnTo>
                  <a:pt x="1196500" y="0"/>
                </a:lnTo>
                <a:lnTo>
                  <a:pt x="1196500" y="1180049"/>
                </a:lnTo>
                <a:lnTo>
                  <a:pt x="0" y="1180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C95EDAF-6A1A-8282-C742-94E27E16EFA8}"/>
              </a:ext>
            </a:extLst>
          </p:cNvPr>
          <p:cNvGrpSpPr/>
          <p:nvPr/>
        </p:nvGrpSpPr>
        <p:grpSpPr>
          <a:xfrm>
            <a:off x="344129" y="243085"/>
            <a:ext cx="10569678" cy="834528"/>
            <a:chOff x="514237" y="467332"/>
            <a:chExt cx="11102286" cy="834528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0C924B86-405F-F2FD-6200-46AF7906E589}"/>
                </a:ext>
              </a:extLst>
            </p:cNvPr>
            <p:cNvGrpSpPr/>
            <p:nvPr/>
          </p:nvGrpSpPr>
          <p:grpSpPr>
            <a:xfrm rot="5400000">
              <a:off x="5653678" y="-4660985"/>
              <a:ext cx="823404" cy="11102286"/>
              <a:chOff x="0" y="-32519"/>
              <a:chExt cx="169362" cy="3394058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B08FDA13-C33A-6E63-C01E-BC9485A57A59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E5CBC88C-8522-14A0-1EB4-A14CD9B0F2F7}"/>
                  </a:ext>
                </a:extLst>
              </p:cNvPr>
              <p:cNvSpPr txBox="1"/>
              <p:nvPr/>
            </p:nvSpPr>
            <p:spPr>
              <a:xfrm>
                <a:off x="0" y="-32519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3F0E236A-83B5-BFBE-0FDD-4C7C72BA6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A4AD635-77BD-A7C3-EC29-466B7EC8A612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965B83A2-CDD0-FD50-DED4-55E188DD91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grpSp>
        <p:nvGrpSpPr>
          <p:cNvPr id="60" name="Group 2">
            <a:extLst>
              <a:ext uri="{FF2B5EF4-FFF2-40B4-BE49-F238E27FC236}">
                <a16:creationId xmlns:a16="http://schemas.microsoft.com/office/drawing/2014/main" id="{3D2384ED-D387-CAC5-8180-658BEECE4D99}"/>
              </a:ext>
            </a:extLst>
          </p:cNvPr>
          <p:cNvGrpSpPr/>
          <p:nvPr/>
        </p:nvGrpSpPr>
        <p:grpSpPr>
          <a:xfrm>
            <a:off x="605167" y="1410672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Freeform 3">
              <a:extLst>
                <a:ext uri="{FF2B5EF4-FFF2-40B4-BE49-F238E27FC236}">
                  <a16:creationId xmlns:a16="http://schemas.microsoft.com/office/drawing/2014/main" id="{F2B880BE-6B75-787B-C110-A40C3692E019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4">
              <a:extLst>
                <a:ext uri="{FF2B5EF4-FFF2-40B4-BE49-F238E27FC236}">
                  <a16:creationId xmlns:a16="http://schemas.microsoft.com/office/drawing/2014/main" id="{7B420C1C-6BF0-C5EF-DAB8-2C3DA7C8A7FE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59A44A5-B0C4-5077-2FB0-930CB3551D18}"/>
              </a:ext>
            </a:extLst>
          </p:cNvPr>
          <p:cNvSpPr txBox="1"/>
          <p:nvPr/>
        </p:nvSpPr>
        <p:spPr>
          <a:xfrm>
            <a:off x="1406475" y="632101"/>
            <a:ext cx="9406063" cy="1333698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algn="l">
              <a:lnSpc>
                <a:spcPts val="12564"/>
              </a:lnSpc>
            </a:pPr>
            <a:r>
              <a:rPr lang="en-GB" sz="3600" b="1" dirty="0">
                <a:solidFill>
                  <a:srgbClr val="122C9E"/>
                </a:solidFill>
                <a:latin typeface="Arial" panose="020B0604020202020204" pitchFamily="34" charset="0"/>
                <a:ea typeface="Barlow Condensed Heavy"/>
                <a:cs typeface="Arial" panose="020B0604020202020204" pitchFamily="34" charset="0"/>
                <a:sym typeface="Barlow Condensed Heavy"/>
              </a:rPr>
              <a:t>GIẢI PHÁP ĐỀ XUẤT</a:t>
            </a:r>
            <a:endParaRPr lang="en-US" sz="3600" b="1" dirty="0">
              <a:solidFill>
                <a:srgbClr val="122C9E"/>
              </a:solidFill>
              <a:latin typeface="Arial" panose="020B0604020202020204" pitchFamily="34" charset="0"/>
              <a:ea typeface="Barlow Condensed Heavy"/>
              <a:cs typeface="Arial" panose="020B0604020202020204" pitchFamily="34" charset="0"/>
              <a:sym typeface="Barlow Condensed Heav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1B773A-5AFA-4242-6BCE-4CF30ABAE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18" y="2356963"/>
            <a:ext cx="1026823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Stacking Ensemble 2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Tầng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(Super Learner)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Hợp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sức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8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bù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trừ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khuyết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từng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altLang="en-US" sz="2000" dirty="0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Meta-learner: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chắt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altLang="en-US" sz="2000" dirty="0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tầm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vượt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trội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ACE28A-14EE-2F86-0D93-3A7536C0EEF4}"/>
              </a:ext>
            </a:extLst>
          </p:cNvPr>
          <p:cNvSpPr/>
          <p:nvPr/>
        </p:nvSpPr>
        <p:spPr>
          <a:xfrm>
            <a:off x="593317" y="2120596"/>
            <a:ext cx="10219221" cy="81184"/>
          </a:xfrm>
          <a:prstGeom prst="rect">
            <a:avLst/>
          </a:prstGeom>
          <a:solidFill>
            <a:srgbClr val="0073D5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88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0682F-6B8C-EDF8-1005-5F2658375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">
            <a:extLst>
              <a:ext uri="{FF2B5EF4-FFF2-40B4-BE49-F238E27FC236}">
                <a16:creationId xmlns:a16="http://schemas.microsoft.com/office/drawing/2014/main" id="{A0B0DB2B-CD2F-B194-0161-64CEBAD33A2E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E7B25BE9-8066-F1C5-ADE5-1882A2CE6B11}"/>
              </a:ext>
            </a:extLst>
          </p:cNvPr>
          <p:cNvSpPr/>
          <p:nvPr/>
        </p:nvSpPr>
        <p:spPr>
          <a:xfrm rot="16200000">
            <a:off x="180101" y="5978521"/>
            <a:ext cx="728414" cy="718398"/>
          </a:xfrm>
          <a:custGeom>
            <a:avLst/>
            <a:gdLst/>
            <a:ahLst/>
            <a:cxnLst/>
            <a:rect l="l" t="t" r="r" b="b"/>
            <a:pathLst>
              <a:path w="1196501" h="1180049">
                <a:moveTo>
                  <a:pt x="0" y="0"/>
                </a:moveTo>
                <a:lnTo>
                  <a:pt x="1196500" y="0"/>
                </a:lnTo>
                <a:lnTo>
                  <a:pt x="1196500" y="1180049"/>
                </a:lnTo>
                <a:lnTo>
                  <a:pt x="0" y="1180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D33A2AA-30E1-9601-7A49-61FB70451A58}"/>
              </a:ext>
            </a:extLst>
          </p:cNvPr>
          <p:cNvGrpSpPr/>
          <p:nvPr/>
        </p:nvGrpSpPr>
        <p:grpSpPr>
          <a:xfrm>
            <a:off x="344129" y="243085"/>
            <a:ext cx="10569678" cy="834528"/>
            <a:chOff x="514237" y="467332"/>
            <a:chExt cx="11102286" cy="834528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EDB169D1-B782-BFD4-AEFA-F43FAF88329F}"/>
                </a:ext>
              </a:extLst>
            </p:cNvPr>
            <p:cNvGrpSpPr/>
            <p:nvPr/>
          </p:nvGrpSpPr>
          <p:grpSpPr>
            <a:xfrm rot="5400000">
              <a:off x="5653678" y="-4660985"/>
              <a:ext cx="823404" cy="11102286"/>
              <a:chOff x="0" y="-32519"/>
              <a:chExt cx="169362" cy="3394058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3C50CDA6-F825-245C-FBC9-09C51D53BAB4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B4508E8D-ABAE-8090-B8FC-5915F2227E1F}"/>
                  </a:ext>
                </a:extLst>
              </p:cNvPr>
              <p:cNvSpPr txBox="1"/>
              <p:nvPr/>
            </p:nvSpPr>
            <p:spPr>
              <a:xfrm>
                <a:off x="0" y="-32519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24A3F98-4E5B-C1C9-A8B4-72C91CF13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CB65861-D2D2-6CBB-B219-B1C5FAD058C7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9D8A455B-F4A7-1310-D807-2DD02465AB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grpSp>
        <p:nvGrpSpPr>
          <p:cNvPr id="60" name="Group 2">
            <a:extLst>
              <a:ext uri="{FF2B5EF4-FFF2-40B4-BE49-F238E27FC236}">
                <a16:creationId xmlns:a16="http://schemas.microsoft.com/office/drawing/2014/main" id="{15CE3876-50FA-678C-6940-ABB943BDF196}"/>
              </a:ext>
            </a:extLst>
          </p:cNvPr>
          <p:cNvGrpSpPr/>
          <p:nvPr/>
        </p:nvGrpSpPr>
        <p:grpSpPr>
          <a:xfrm>
            <a:off x="605167" y="1410672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Freeform 3">
              <a:extLst>
                <a:ext uri="{FF2B5EF4-FFF2-40B4-BE49-F238E27FC236}">
                  <a16:creationId xmlns:a16="http://schemas.microsoft.com/office/drawing/2014/main" id="{6FC48160-A13C-24C5-7E03-178C81D5C9B1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4">
              <a:extLst>
                <a:ext uri="{FF2B5EF4-FFF2-40B4-BE49-F238E27FC236}">
                  <a16:creationId xmlns:a16="http://schemas.microsoft.com/office/drawing/2014/main" id="{604A238F-EB58-DB64-27F1-3DCCCB6A8427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1BD1AF50-519B-9102-397C-D8B8CF7C2D86}"/>
              </a:ext>
            </a:extLst>
          </p:cNvPr>
          <p:cNvSpPr txBox="1"/>
          <p:nvPr/>
        </p:nvSpPr>
        <p:spPr>
          <a:xfrm>
            <a:off x="1406475" y="632101"/>
            <a:ext cx="9406063" cy="1333698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algn="l">
              <a:lnSpc>
                <a:spcPts val="12564"/>
              </a:lnSpc>
            </a:pPr>
            <a:r>
              <a:rPr lang="en-GB" sz="3600" b="1" dirty="0">
                <a:solidFill>
                  <a:srgbClr val="122C9E"/>
                </a:solidFill>
                <a:latin typeface="Arial" panose="020B0604020202020204" pitchFamily="34" charset="0"/>
                <a:ea typeface="Barlow Condensed Heavy"/>
                <a:cs typeface="Arial" panose="020B0604020202020204" pitchFamily="34" charset="0"/>
                <a:sym typeface="Barlow Condensed Heavy"/>
              </a:rPr>
              <a:t>QUY TRÌNH XỬ LÝ</a:t>
            </a:r>
            <a:endParaRPr lang="en-US" sz="3600" b="1" dirty="0">
              <a:solidFill>
                <a:srgbClr val="122C9E"/>
              </a:solidFill>
              <a:latin typeface="Arial" panose="020B0604020202020204" pitchFamily="34" charset="0"/>
              <a:ea typeface="Barlow Condensed Heavy"/>
              <a:cs typeface="Arial" panose="020B0604020202020204" pitchFamily="34" charset="0"/>
              <a:sym typeface="Barlow Condensed Heavy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B91978-74A4-B4AC-18AE-FC155D4D02E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93317" y="2317242"/>
            <a:ext cx="1030606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GB" sz="2500" b="1" dirty="0">
                <a:solidFill>
                  <a:srgbClr val="122C9E"/>
                </a:solidFill>
              </a:rPr>
              <a:t>DATA PROCESSING</a:t>
            </a:r>
            <a:endParaRPr lang="en-US" altLang="en-US" sz="2500" b="1" dirty="0">
              <a:solidFill>
                <a:srgbClr val="122C9E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7AAE47F-57DD-68BB-B1AB-418F510D4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5" y="2818444"/>
            <a:ext cx="190534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22" name="Picture 6" descr="Generated image">
            <a:extLst>
              <a:ext uri="{FF2B5EF4-FFF2-40B4-BE49-F238E27FC236}">
                <a16:creationId xmlns:a16="http://schemas.microsoft.com/office/drawing/2014/main" id="{8958E878-DA77-20DF-83EE-3B198F4BD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882" y="2920157"/>
            <a:ext cx="4386263" cy="291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7C4CB267-8DA4-F6C6-7B11-AF0B424B6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712" y="5973513"/>
            <a:ext cx="271260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1: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Tổng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thu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thập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CD5EA-1493-9E47-3F0A-E62A92F9461F}"/>
              </a:ext>
            </a:extLst>
          </p:cNvPr>
          <p:cNvSpPr/>
          <p:nvPr/>
        </p:nvSpPr>
        <p:spPr>
          <a:xfrm>
            <a:off x="593317" y="2120596"/>
            <a:ext cx="10219221" cy="81184"/>
          </a:xfrm>
          <a:prstGeom prst="rect">
            <a:avLst/>
          </a:prstGeom>
          <a:solidFill>
            <a:srgbClr val="0073D5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 descr="Generated image">
            <a:extLst>
              <a:ext uri="{FF2B5EF4-FFF2-40B4-BE49-F238E27FC236}">
                <a16:creationId xmlns:a16="http://schemas.microsoft.com/office/drawing/2014/main" id="{381B7860-6568-007B-423C-384201781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r:link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2841301"/>
            <a:ext cx="1919921" cy="3075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enerated image">
            <a:extLst>
              <a:ext uri="{FF2B5EF4-FFF2-40B4-BE49-F238E27FC236}">
                <a16:creationId xmlns:a16="http://schemas.microsoft.com/office/drawing/2014/main" id="{42EAB0F7-89DB-5285-3DF4-2ECC2551F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r:link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127" y="2841301"/>
            <a:ext cx="1009841" cy="305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24C3CD19-B309-430F-11CE-57BC0D9DF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937610"/>
            <a:ext cx="191992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2: 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Tổng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quy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nhất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endParaRPr kumimoji="0" lang="en-US" altLang="en-US" sz="100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DB42C57-002A-6AE2-410D-1825F4B3D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650" y="5937610"/>
            <a:ext cx="15407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3: 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Tổng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quy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làm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sạch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endParaRPr kumimoji="0" lang="en-US" altLang="en-US" sz="100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699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9C33B-11C1-71A2-ACE6-A3FE7614E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">
            <a:extLst>
              <a:ext uri="{FF2B5EF4-FFF2-40B4-BE49-F238E27FC236}">
                <a16:creationId xmlns:a16="http://schemas.microsoft.com/office/drawing/2014/main" id="{7791A114-C17C-20D4-CE38-7682099BC4B6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1239D365-6EC4-541C-339F-0DAE29FD4D7A}"/>
              </a:ext>
            </a:extLst>
          </p:cNvPr>
          <p:cNvSpPr/>
          <p:nvPr/>
        </p:nvSpPr>
        <p:spPr>
          <a:xfrm rot="16200000">
            <a:off x="180101" y="5978521"/>
            <a:ext cx="728414" cy="718398"/>
          </a:xfrm>
          <a:custGeom>
            <a:avLst/>
            <a:gdLst/>
            <a:ahLst/>
            <a:cxnLst/>
            <a:rect l="l" t="t" r="r" b="b"/>
            <a:pathLst>
              <a:path w="1196501" h="1180049">
                <a:moveTo>
                  <a:pt x="0" y="0"/>
                </a:moveTo>
                <a:lnTo>
                  <a:pt x="1196500" y="0"/>
                </a:lnTo>
                <a:lnTo>
                  <a:pt x="1196500" y="1180049"/>
                </a:lnTo>
                <a:lnTo>
                  <a:pt x="0" y="1180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6A027A0-1C9A-BD60-FB87-685325FFFF96}"/>
              </a:ext>
            </a:extLst>
          </p:cNvPr>
          <p:cNvGrpSpPr/>
          <p:nvPr/>
        </p:nvGrpSpPr>
        <p:grpSpPr>
          <a:xfrm>
            <a:off x="344129" y="243085"/>
            <a:ext cx="10569678" cy="834528"/>
            <a:chOff x="514237" y="467332"/>
            <a:chExt cx="11102286" cy="834528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FB3CD74C-7825-6B82-FEEF-25E69240FDC3}"/>
                </a:ext>
              </a:extLst>
            </p:cNvPr>
            <p:cNvGrpSpPr/>
            <p:nvPr/>
          </p:nvGrpSpPr>
          <p:grpSpPr>
            <a:xfrm rot="5400000">
              <a:off x="5653678" y="-4660985"/>
              <a:ext cx="823404" cy="11102286"/>
              <a:chOff x="0" y="-32519"/>
              <a:chExt cx="169362" cy="3394058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500A4749-35E2-11FF-1628-39E01E401699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0B5C81A9-6B4B-D59E-F722-6AFE8BB135BE}"/>
                  </a:ext>
                </a:extLst>
              </p:cNvPr>
              <p:cNvSpPr txBox="1"/>
              <p:nvPr/>
            </p:nvSpPr>
            <p:spPr>
              <a:xfrm>
                <a:off x="0" y="-32519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9EA8E1BE-5297-CDC8-F578-D8CF643CA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EB9AE57-E830-A330-5C86-9D6D7571C15A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E82DE39F-44F4-EB7A-D2C9-88CA1EB42D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grpSp>
        <p:nvGrpSpPr>
          <p:cNvPr id="60" name="Group 2">
            <a:extLst>
              <a:ext uri="{FF2B5EF4-FFF2-40B4-BE49-F238E27FC236}">
                <a16:creationId xmlns:a16="http://schemas.microsoft.com/office/drawing/2014/main" id="{93E9A2E1-1B11-2DF9-8A57-07C9BCFE5FA4}"/>
              </a:ext>
            </a:extLst>
          </p:cNvPr>
          <p:cNvGrpSpPr/>
          <p:nvPr/>
        </p:nvGrpSpPr>
        <p:grpSpPr>
          <a:xfrm>
            <a:off x="605167" y="1410672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Freeform 3">
              <a:extLst>
                <a:ext uri="{FF2B5EF4-FFF2-40B4-BE49-F238E27FC236}">
                  <a16:creationId xmlns:a16="http://schemas.microsoft.com/office/drawing/2014/main" id="{651E3011-532A-8FE1-80EA-C2CFEE8CC504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4">
              <a:extLst>
                <a:ext uri="{FF2B5EF4-FFF2-40B4-BE49-F238E27FC236}">
                  <a16:creationId xmlns:a16="http://schemas.microsoft.com/office/drawing/2014/main" id="{14F49FF7-27BE-8D57-D690-B248ACE3E7BE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1F49C603-929D-85AA-19E2-6F0FFFCF72DD}"/>
              </a:ext>
            </a:extLst>
          </p:cNvPr>
          <p:cNvSpPr txBox="1"/>
          <p:nvPr/>
        </p:nvSpPr>
        <p:spPr>
          <a:xfrm>
            <a:off x="1406475" y="632101"/>
            <a:ext cx="9406063" cy="1333698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algn="l">
              <a:lnSpc>
                <a:spcPts val="12564"/>
              </a:lnSpc>
            </a:pPr>
            <a:r>
              <a:rPr lang="en-GB" sz="3600" b="1" dirty="0">
                <a:solidFill>
                  <a:srgbClr val="122C9E"/>
                </a:solidFill>
                <a:latin typeface="Arial" panose="020B0604020202020204" pitchFamily="34" charset="0"/>
                <a:ea typeface="Barlow Condensed Heavy"/>
                <a:cs typeface="Arial" panose="020B0604020202020204" pitchFamily="34" charset="0"/>
                <a:sym typeface="Barlow Condensed Heavy"/>
              </a:rPr>
              <a:t>QUY TRÌNH XỬ LÝ</a:t>
            </a:r>
            <a:endParaRPr lang="en-US" sz="3600" b="1" dirty="0">
              <a:solidFill>
                <a:srgbClr val="122C9E"/>
              </a:solidFill>
              <a:latin typeface="Arial" panose="020B0604020202020204" pitchFamily="34" charset="0"/>
              <a:ea typeface="Barlow Condensed Heavy"/>
              <a:cs typeface="Arial" panose="020B0604020202020204" pitchFamily="34" charset="0"/>
              <a:sym typeface="Barlow Condensed Heavy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79C093-A605-7BAD-97B6-99DF7D7A671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7742" y="2343691"/>
            <a:ext cx="1030606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GB" sz="2500" b="1" dirty="0">
                <a:solidFill>
                  <a:srgbClr val="122C9E"/>
                </a:solidFill>
              </a:rPr>
              <a:t>DATA PROCESSING</a:t>
            </a:r>
            <a:endParaRPr kumimoji="0" lang="en-US" altLang="en-US" sz="2500" b="1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FC9B553-5B69-3F06-F411-FAA2DA6C6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5" y="2818444"/>
            <a:ext cx="190534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63DE6F-BE48-FB60-85F8-548EFD88D7FA}"/>
              </a:ext>
            </a:extLst>
          </p:cNvPr>
          <p:cNvSpPr txBox="1"/>
          <p:nvPr/>
        </p:nvSpPr>
        <p:spPr>
          <a:xfrm>
            <a:off x="7158038" y="2528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1B22470-EEF7-2CB8-231D-B550F1B29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9453" y="2864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B37E637-8EF4-7148-0C20-3C3919395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6457F86-4589-8AD2-9EAB-B46B78772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77" y="2892012"/>
            <a:ext cx="1014089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Data Splitting: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Train 80%, Validation 10%, Test 10%.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Feature Engineering: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cs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Lag features: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Giúp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model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học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trễ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thời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gian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chu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kì</a:t>
            </a:r>
            <a:r>
              <a:rPr lang="en-US" altLang="en-US" dirty="0">
                <a:solidFill>
                  <a:srgbClr val="122C9E"/>
                </a:solidFill>
                <a:cs typeface="Arial" panose="020B0604020202020204" pitchFamily="34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cs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Rolling features: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Cung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cấp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bức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tranh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"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tầng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về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trạng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xu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hướng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thống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khí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tượng</a:t>
            </a:r>
            <a:r>
              <a:rPr lang="en-US" altLang="en-US" dirty="0">
                <a:solidFill>
                  <a:srgbClr val="122C9E"/>
                </a:solidFill>
                <a:cs typeface="Arial" panose="020B0604020202020204" pitchFamily="34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cs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Time features: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Cyclic encoding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bằng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sin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cos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toàn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quan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tuần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hoàn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giờ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23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0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gần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nhau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giúp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mô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học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được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đặc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trưng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thời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tiết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theo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thời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gian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giờ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ngày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mùa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, ....);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Location features: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Giúp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model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học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được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đặc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trưng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thời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tiết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theo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từng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vùng</a:t>
            </a:r>
            <a:r>
              <a:rPr lang="en-US" altLang="en-US" dirty="0">
                <a:solidFill>
                  <a:srgbClr val="122C9E"/>
                </a:solidFill>
                <a:cs typeface="Arial" panose="020B0604020202020204" pitchFamily="34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cs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Interaction features: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Giúp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model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học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được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mối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quan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giữa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thời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tiết</a:t>
            </a:r>
            <a:r>
              <a:rPr lang="en-US" altLang="en-US" dirty="0">
                <a:solidFill>
                  <a:srgbClr val="122C9E"/>
                </a:solidFill>
                <a:cs typeface="Arial" panose="020B0604020202020204" pitchFamily="34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cs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Difference 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Phát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đổi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đột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ngột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mối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quan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tốc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đổi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chúng</a:t>
            </a:r>
            <a:r>
              <a:rPr lang="en-US" altLang="en-US" dirty="0">
                <a:solidFill>
                  <a:srgbClr val="122C9E"/>
                </a:solidFill>
                <a:cs typeface="Arial" panose="020B0604020202020204" pitchFamily="34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cs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Polynomial: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Giúp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model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học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sự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tương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giữa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features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quan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hệ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phi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tuyến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ACFC27-009B-537D-0118-0CB335980BB9}"/>
              </a:ext>
            </a:extLst>
          </p:cNvPr>
          <p:cNvSpPr/>
          <p:nvPr/>
        </p:nvSpPr>
        <p:spPr>
          <a:xfrm>
            <a:off x="593317" y="2120596"/>
            <a:ext cx="10219221" cy="81184"/>
          </a:xfrm>
          <a:prstGeom prst="rect">
            <a:avLst/>
          </a:prstGeom>
          <a:solidFill>
            <a:srgbClr val="0073D5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14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C4954-D07B-DCF9-C379-C3382A497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">
            <a:extLst>
              <a:ext uri="{FF2B5EF4-FFF2-40B4-BE49-F238E27FC236}">
                <a16:creationId xmlns:a16="http://schemas.microsoft.com/office/drawing/2014/main" id="{835DB61B-C2EE-B02A-1F88-888D96593221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EBC37AC7-FA7A-1400-E304-B7C53271A44A}"/>
              </a:ext>
            </a:extLst>
          </p:cNvPr>
          <p:cNvSpPr/>
          <p:nvPr/>
        </p:nvSpPr>
        <p:spPr>
          <a:xfrm rot="16200000">
            <a:off x="180101" y="5978521"/>
            <a:ext cx="728414" cy="718398"/>
          </a:xfrm>
          <a:custGeom>
            <a:avLst/>
            <a:gdLst/>
            <a:ahLst/>
            <a:cxnLst/>
            <a:rect l="l" t="t" r="r" b="b"/>
            <a:pathLst>
              <a:path w="1196501" h="1180049">
                <a:moveTo>
                  <a:pt x="0" y="0"/>
                </a:moveTo>
                <a:lnTo>
                  <a:pt x="1196500" y="0"/>
                </a:lnTo>
                <a:lnTo>
                  <a:pt x="1196500" y="1180049"/>
                </a:lnTo>
                <a:lnTo>
                  <a:pt x="0" y="1180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F15C858-DBB0-E7B4-DE9F-CF7B5EE3D4BC}"/>
              </a:ext>
            </a:extLst>
          </p:cNvPr>
          <p:cNvGrpSpPr/>
          <p:nvPr/>
        </p:nvGrpSpPr>
        <p:grpSpPr>
          <a:xfrm>
            <a:off x="344129" y="243085"/>
            <a:ext cx="10569678" cy="834528"/>
            <a:chOff x="514237" y="467332"/>
            <a:chExt cx="11102286" cy="834528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DAE07DC3-52E2-A4B1-DE38-5B71800B5301}"/>
                </a:ext>
              </a:extLst>
            </p:cNvPr>
            <p:cNvGrpSpPr/>
            <p:nvPr/>
          </p:nvGrpSpPr>
          <p:grpSpPr>
            <a:xfrm rot="5400000">
              <a:off x="5653678" y="-4660985"/>
              <a:ext cx="823404" cy="11102286"/>
              <a:chOff x="0" y="-32519"/>
              <a:chExt cx="169362" cy="3394058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D6E7B643-D183-7111-E3E5-641C07C59A98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A5CC993F-6EB3-6011-0317-C92ABA052B6E}"/>
                  </a:ext>
                </a:extLst>
              </p:cNvPr>
              <p:cNvSpPr txBox="1"/>
              <p:nvPr/>
            </p:nvSpPr>
            <p:spPr>
              <a:xfrm>
                <a:off x="0" y="-32519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22773E72-0B60-508C-C7F9-31F86105A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B9A444E-4A60-78A5-8EBD-83612E8FB4C3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DBF2A394-79DD-29D6-FF53-E34CD04FD0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grpSp>
        <p:nvGrpSpPr>
          <p:cNvPr id="60" name="Group 2">
            <a:extLst>
              <a:ext uri="{FF2B5EF4-FFF2-40B4-BE49-F238E27FC236}">
                <a16:creationId xmlns:a16="http://schemas.microsoft.com/office/drawing/2014/main" id="{F2525F31-C8E1-FCF6-EED4-69AA349195BC}"/>
              </a:ext>
            </a:extLst>
          </p:cNvPr>
          <p:cNvGrpSpPr/>
          <p:nvPr/>
        </p:nvGrpSpPr>
        <p:grpSpPr>
          <a:xfrm>
            <a:off x="605167" y="1410672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Freeform 3">
              <a:extLst>
                <a:ext uri="{FF2B5EF4-FFF2-40B4-BE49-F238E27FC236}">
                  <a16:creationId xmlns:a16="http://schemas.microsoft.com/office/drawing/2014/main" id="{DA8CBA05-941D-EFD2-3D0E-13F6C57F0A9A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4">
              <a:extLst>
                <a:ext uri="{FF2B5EF4-FFF2-40B4-BE49-F238E27FC236}">
                  <a16:creationId xmlns:a16="http://schemas.microsoft.com/office/drawing/2014/main" id="{16A7162A-BCB7-C1DC-7E53-74E23EB30F82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98557C46-5EA7-DB02-42BB-66B784C550D9}"/>
              </a:ext>
            </a:extLst>
          </p:cNvPr>
          <p:cNvSpPr txBox="1"/>
          <p:nvPr/>
        </p:nvSpPr>
        <p:spPr>
          <a:xfrm>
            <a:off x="1406475" y="632069"/>
            <a:ext cx="9406063" cy="1333763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12564"/>
              </a:lnSpc>
            </a:pPr>
            <a:r>
              <a:rPr lang="en-GB" sz="3600" b="1" dirty="0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 ĐỒ XỬ LÝ STACKING ENSEMBLE</a:t>
            </a:r>
            <a:endParaRPr lang="en-US" sz="3600" b="1" dirty="0">
              <a:solidFill>
                <a:srgbClr val="122C9E"/>
              </a:solidFill>
              <a:latin typeface="Arial" panose="020B0604020202020204" pitchFamily="34" charset="0"/>
              <a:ea typeface="Barlow Condensed Heavy"/>
              <a:cs typeface="Arial" panose="020B0604020202020204" pitchFamily="34" charset="0"/>
              <a:sym typeface="Barlow Condensed Heavy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5834FBA-2A0D-8CA3-E86E-9732B334A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5" y="2818444"/>
            <a:ext cx="190534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B1255B-13D1-B962-FBCD-DF1D251E2811}"/>
              </a:ext>
            </a:extLst>
          </p:cNvPr>
          <p:cNvSpPr txBox="1"/>
          <p:nvPr/>
        </p:nvSpPr>
        <p:spPr>
          <a:xfrm>
            <a:off x="7158038" y="2528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20DF912-2BFF-9E3D-AE0A-C97D27D98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9453" y="2864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D2D8ED2-BBBA-1DC9-41C2-5D2066454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374899-0EE5-F828-6734-18DFCED5EA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035" y="2229150"/>
            <a:ext cx="5295900" cy="3962400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CB31320C-426D-20CC-E329-E35F41B2D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126" y="6159506"/>
            <a:ext cx="2855969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4.1: 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tập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xếp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chồng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Tầng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1)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614742-FDD2-E17B-C355-39CDCE92AFBD}"/>
              </a:ext>
            </a:extLst>
          </p:cNvPr>
          <p:cNvSpPr/>
          <p:nvPr/>
        </p:nvSpPr>
        <p:spPr>
          <a:xfrm>
            <a:off x="593317" y="2056899"/>
            <a:ext cx="10219221" cy="81184"/>
          </a:xfrm>
          <a:prstGeom prst="rect">
            <a:avLst/>
          </a:prstGeom>
          <a:solidFill>
            <a:srgbClr val="0073D5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E7A38A5-68D9-35AB-25F2-BD7BABE4E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316" y="2528889"/>
            <a:ext cx="479476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huấn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luyện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chia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TimeSeriesSplit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đoán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OOF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base learners: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Random Forest,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CatBoost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Ghép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đoán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thành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en-US" b="1" dirty="0">
                <a:solidFill>
                  <a:srgbClr val="122C9E"/>
                </a:solidFill>
                <a:latin typeface="Arial" panose="020B0604020202020204" pitchFamily="34" charset="0"/>
              </a:rPr>
              <a:t>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eta-features;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Refit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toàn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bộ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base learners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tập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train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xót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trường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nào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Train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Linear Regression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122C9E"/>
                </a:solidFill>
                <a:latin typeface="Arial" panose="020B0604020202020204" pitchFamily="34" charset="0"/>
              </a:rPr>
              <a:t>base learners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vừa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refit.</a:t>
            </a:r>
          </a:p>
        </p:txBody>
      </p:sp>
    </p:spTree>
    <p:extLst>
      <p:ext uri="{BB962C8B-B14F-4D97-AF65-F5344CB8AC3E}">
        <p14:creationId xmlns:p14="http://schemas.microsoft.com/office/powerpoint/2010/main" val="580996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E3E8A-A540-9155-5CE9-36FCB43C3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">
            <a:extLst>
              <a:ext uri="{FF2B5EF4-FFF2-40B4-BE49-F238E27FC236}">
                <a16:creationId xmlns:a16="http://schemas.microsoft.com/office/drawing/2014/main" id="{645EB58B-4D02-652F-BDBF-AC0341903AD6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BFD9617B-344D-670A-984D-F7082020A18B}"/>
              </a:ext>
            </a:extLst>
          </p:cNvPr>
          <p:cNvSpPr/>
          <p:nvPr/>
        </p:nvSpPr>
        <p:spPr>
          <a:xfrm rot="16200000">
            <a:off x="180101" y="5978521"/>
            <a:ext cx="728414" cy="718398"/>
          </a:xfrm>
          <a:custGeom>
            <a:avLst/>
            <a:gdLst/>
            <a:ahLst/>
            <a:cxnLst/>
            <a:rect l="l" t="t" r="r" b="b"/>
            <a:pathLst>
              <a:path w="1196501" h="1180049">
                <a:moveTo>
                  <a:pt x="0" y="0"/>
                </a:moveTo>
                <a:lnTo>
                  <a:pt x="1196500" y="0"/>
                </a:lnTo>
                <a:lnTo>
                  <a:pt x="1196500" y="1180049"/>
                </a:lnTo>
                <a:lnTo>
                  <a:pt x="0" y="1180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47A7F44-9CA6-BDDC-8CBE-988D7C2EA9A3}"/>
              </a:ext>
            </a:extLst>
          </p:cNvPr>
          <p:cNvGrpSpPr/>
          <p:nvPr/>
        </p:nvGrpSpPr>
        <p:grpSpPr>
          <a:xfrm>
            <a:off x="344129" y="243085"/>
            <a:ext cx="10569678" cy="834528"/>
            <a:chOff x="514237" y="467332"/>
            <a:chExt cx="11102286" cy="834528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D6BD11B1-CC7E-140E-5113-317716DA301A}"/>
                </a:ext>
              </a:extLst>
            </p:cNvPr>
            <p:cNvGrpSpPr/>
            <p:nvPr/>
          </p:nvGrpSpPr>
          <p:grpSpPr>
            <a:xfrm rot="5400000">
              <a:off x="5653678" y="-4660985"/>
              <a:ext cx="823404" cy="11102286"/>
              <a:chOff x="0" y="-32519"/>
              <a:chExt cx="169362" cy="3394058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EAFB48AA-4451-6F73-7828-D37D009EFF98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F9F04384-19EF-6C96-722F-000E163EBB03}"/>
                  </a:ext>
                </a:extLst>
              </p:cNvPr>
              <p:cNvSpPr txBox="1"/>
              <p:nvPr/>
            </p:nvSpPr>
            <p:spPr>
              <a:xfrm>
                <a:off x="0" y="-32519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44134272-310B-E830-8ADC-809BBA466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AA27F2A-2F95-FB27-9977-E80BA2AF8CE0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A4720C86-D4AD-F1FF-DD6C-8244D9156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grpSp>
        <p:nvGrpSpPr>
          <p:cNvPr id="60" name="Group 2">
            <a:extLst>
              <a:ext uri="{FF2B5EF4-FFF2-40B4-BE49-F238E27FC236}">
                <a16:creationId xmlns:a16="http://schemas.microsoft.com/office/drawing/2014/main" id="{284388A6-6A42-C6AA-C5F0-F0D0761AD38A}"/>
              </a:ext>
            </a:extLst>
          </p:cNvPr>
          <p:cNvGrpSpPr/>
          <p:nvPr/>
        </p:nvGrpSpPr>
        <p:grpSpPr>
          <a:xfrm>
            <a:off x="605167" y="1410672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Freeform 3">
              <a:extLst>
                <a:ext uri="{FF2B5EF4-FFF2-40B4-BE49-F238E27FC236}">
                  <a16:creationId xmlns:a16="http://schemas.microsoft.com/office/drawing/2014/main" id="{6E81261D-EA70-B089-3AF6-9A74130B08EF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4">
              <a:extLst>
                <a:ext uri="{FF2B5EF4-FFF2-40B4-BE49-F238E27FC236}">
                  <a16:creationId xmlns:a16="http://schemas.microsoft.com/office/drawing/2014/main" id="{23481CA5-D4C4-FE5E-5215-9076A78B1030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272F00F7-9843-DFD6-2707-F32853C6CCB3}"/>
              </a:ext>
            </a:extLst>
          </p:cNvPr>
          <p:cNvSpPr txBox="1"/>
          <p:nvPr/>
        </p:nvSpPr>
        <p:spPr>
          <a:xfrm>
            <a:off x="1406475" y="632069"/>
            <a:ext cx="9406063" cy="1333763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12564"/>
              </a:lnSpc>
            </a:pPr>
            <a:r>
              <a:rPr lang="en-GB" sz="3600" b="1" dirty="0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 ĐỒ XỬ LÝ STACKING ENSEMBLE</a:t>
            </a:r>
            <a:endParaRPr lang="en-US" sz="3600" b="1" dirty="0">
              <a:solidFill>
                <a:srgbClr val="122C9E"/>
              </a:solidFill>
              <a:latin typeface="Arial" panose="020B0604020202020204" pitchFamily="34" charset="0"/>
              <a:ea typeface="Barlow Condensed Heavy"/>
              <a:cs typeface="Arial" panose="020B0604020202020204" pitchFamily="34" charset="0"/>
              <a:sym typeface="Barlow Condensed Heavy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4A23268-3816-F827-5FE9-CEA3E8AA7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5" y="2818444"/>
            <a:ext cx="190534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6B7299-51FD-778A-B3F2-3DA4F1EB75CB}"/>
              </a:ext>
            </a:extLst>
          </p:cNvPr>
          <p:cNvSpPr txBox="1"/>
          <p:nvPr/>
        </p:nvSpPr>
        <p:spPr>
          <a:xfrm>
            <a:off x="7158038" y="2528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FF4B42B-5007-B681-4A35-AD6BA766E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9453" y="2864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7D35CC3-1215-0C36-185C-E53D31ABE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878BCB-0790-C1BC-740C-2F9C1E57FA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06" y="2494226"/>
            <a:ext cx="5151208" cy="2473165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AD507576-EE41-87F1-CFEC-2F57168C1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2264" y="5015436"/>
            <a:ext cx="283644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4.2: 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tập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xếp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chồng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Tầng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2)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BF16AB-3ABE-65EC-94ED-F4C27FE94057}"/>
              </a:ext>
            </a:extLst>
          </p:cNvPr>
          <p:cNvSpPr/>
          <p:nvPr/>
        </p:nvSpPr>
        <p:spPr>
          <a:xfrm>
            <a:off x="593317" y="2056899"/>
            <a:ext cx="10219221" cy="81184"/>
          </a:xfrm>
          <a:prstGeom prst="rect">
            <a:avLst/>
          </a:prstGeom>
          <a:solidFill>
            <a:srgbClr val="0073D5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3167CB9-5C93-BB9C-21F2-CFE7C96BC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01" y="2411594"/>
            <a:ext cx="54479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lang="en-US" altLang="en-US" dirty="0">
                <a:solidFill>
                  <a:srgbClr val="122C9E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lang="en-US" altLang="en-US" dirty="0">
                <a:solidFill>
                  <a:srgbClr val="122C9E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122C9E"/>
                </a:solidFill>
                <a:latin typeface="Arial" panose="020B0604020202020204" pitchFamily="34" charset="0"/>
              </a:rPr>
              <a:t>mới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qua pipeline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đặc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trưng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Base learners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đoán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từng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mẫu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Ghép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đoán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thành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inference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122C9E"/>
                </a:solidFill>
                <a:latin typeface="Arial" panose="020B0604020202020204" pitchFamily="34" charset="0"/>
              </a:rPr>
              <a:t>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eta-features;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qua Meta-model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Linear Regression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xuất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quả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cuối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cùng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altLang="en-US" b="1" dirty="0" err="1">
                <a:solidFill>
                  <a:srgbClr val="122C9E"/>
                </a:solidFill>
                <a:latin typeface="Arial" panose="020B0604020202020204" pitchFamily="34" charset="0"/>
              </a:rPr>
              <a:t>có</a:t>
            </a:r>
            <a:r>
              <a:rPr lang="en-US" altLang="en-US" b="1" dirty="0">
                <a:solidFill>
                  <a:srgbClr val="122C9E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122C9E"/>
                </a:solidFill>
                <a:latin typeface="Arial" panose="020B0604020202020204" pitchFamily="34" charset="0"/>
              </a:rPr>
              <a:t>mưa</a:t>
            </a:r>
            <a:r>
              <a:rPr lang="en-US" altLang="en-US" b="1" dirty="0">
                <a:solidFill>
                  <a:srgbClr val="122C9E"/>
                </a:solidFill>
                <a:latin typeface="Arial" panose="020B0604020202020204" pitchFamily="34" charset="0"/>
              </a:rPr>
              <a:t>/</a:t>
            </a:r>
            <a:r>
              <a:rPr lang="en-US" altLang="en-US" b="1" dirty="0" err="1">
                <a:solidFill>
                  <a:srgbClr val="122C9E"/>
                </a:solidFill>
                <a:latin typeface="Arial" panose="020B0604020202020204" pitchFamily="34" charset="0"/>
              </a:rPr>
              <a:t>không</a:t>
            </a:r>
            <a:r>
              <a:rPr lang="en-US" altLang="en-US" b="1" dirty="0">
                <a:solidFill>
                  <a:srgbClr val="122C9E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122C9E"/>
                </a:solidFill>
                <a:latin typeface="Arial" panose="020B0604020202020204" pitchFamily="34" charset="0"/>
              </a:rPr>
              <a:t>mưa</a:t>
            </a:r>
            <a:r>
              <a:rPr lang="en-US" altLang="en-US" b="1" dirty="0">
                <a:solidFill>
                  <a:srgbClr val="122C9E"/>
                </a:solidFill>
                <a:latin typeface="Arial" panose="020B0604020202020204" pitchFamily="34" charset="0"/>
              </a:rPr>
              <a:t>)</a:t>
            </a:r>
            <a:r>
              <a:rPr lang="en-US" altLang="en-US" dirty="0">
                <a:solidFill>
                  <a:srgbClr val="122C9E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122C9E"/>
                </a:solidFill>
                <a:latin typeface="Arial" panose="020B0604020202020204" pitchFamily="34" charset="0"/>
              </a:rPr>
              <a:t>và</a:t>
            </a:r>
            <a:r>
              <a:rPr lang="en-US" altLang="en-US" dirty="0">
                <a:solidFill>
                  <a:srgbClr val="122C9E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122C9E"/>
                </a:solidFill>
                <a:latin typeface="Arial" panose="020B0604020202020204" pitchFamily="34" charset="0"/>
              </a:rPr>
              <a:t>đưa</a:t>
            </a:r>
            <a:r>
              <a:rPr lang="en-US" altLang="en-US" dirty="0">
                <a:solidFill>
                  <a:srgbClr val="122C9E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122C9E"/>
                </a:solidFill>
                <a:latin typeface="Arial" panose="020B0604020202020204" pitchFamily="34" charset="0"/>
              </a:rPr>
              <a:t>ra</a:t>
            </a:r>
            <a:r>
              <a:rPr lang="en-US" altLang="en-US" dirty="0">
                <a:solidFill>
                  <a:srgbClr val="122C9E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hồi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ước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lượng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lượng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mưa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suất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mưa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vượt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ngưỡng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0.4.</a:t>
            </a:r>
          </a:p>
        </p:txBody>
      </p:sp>
    </p:spTree>
    <p:extLst>
      <p:ext uri="{BB962C8B-B14F-4D97-AF65-F5344CB8AC3E}">
        <p14:creationId xmlns:p14="http://schemas.microsoft.com/office/powerpoint/2010/main" val="2502457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B7E4A-6B86-69CB-442A-020FAA0F2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">
            <a:extLst>
              <a:ext uri="{FF2B5EF4-FFF2-40B4-BE49-F238E27FC236}">
                <a16:creationId xmlns:a16="http://schemas.microsoft.com/office/drawing/2014/main" id="{82221473-7133-B882-36A3-46267E7861F3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1353953B-CD10-4447-015E-B003B9130206}"/>
              </a:ext>
            </a:extLst>
          </p:cNvPr>
          <p:cNvSpPr/>
          <p:nvPr/>
        </p:nvSpPr>
        <p:spPr>
          <a:xfrm rot="16200000">
            <a:off x="180101" y="5978521"/>
            <a:ext cx="728414" cy="718398"/>
          </a:xfrm>
          <a:custGeom>
            <a:avLst/>
            <a:gdLst/>
            <a:ahLst/>
            <a:cxnLst/>
            <a:rect l="l" t="t" r="r" b="b"/>
            <a:pathLst>
              <a:path w="1196501" h="1180049">
                <a:moveTo>
                  <a:pt x="0" y="0"/>
                </a:moveTo>
                <a:lnTo>
                  <a:pt x="1196500" y="0"/>
                </a:lnTo>
                <a:lnTo>
                  <a:pt x="1196500" y="1180049"/>
                </a:lnTo>
                <a:lnTo>
                  <a:pt x="0" y="1180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06D65BD-3748-AEC5-8AEB-2A362DC60E43}"/>
              </a:ext>
            </a:extLst>
          </p:cNvPr>
          <p:cNvGrpSpPr/>
          <p:nvPr/>
        </p:nvGrpSpPr>
        <p:grpSpPr>
          <a:xfrm>
            <a:off x="344129" y="243085"/>
            <a:ext cx="10569678" cy="834528"/>
            <a:chOff x="514237" y="467332"/>
            <a:chExt cx="11102286" cy="834528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D2F93625-66E2-1748-D41E-E8FF2080157F}"/>
                </a:ext>
              </a:extLst>
            </p:cNvPr>
            <p:cNvGrpSpPr/>
            <p:nvPr/>
          </p:nvGrpSpPr>
          <p:grpSpPr>
            <a:xfrm rot="5400000">
              <a:off x="5653678" y="-4660985"/>
              <a:ext cx="823404" cy="11102286"/>
              <a:chOff x="0" y="-32519"/>
              <a:chExt cx="169362" cy="3394058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10D86777-03C2-4EC3-8DF8-7C244FAC6970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B2C19781-8A3C-D0D4-ABED-F8DB4A8E87F3}"/>
                  </a:ext>
                </a:extLst>
              </p:cNvPr>
              <p:cNvSpPr txBox="1"/>
              <p:nvPr/>
            </p:nvSpPr>
            <p:spPr>
              <a:xfrm>
                <a:off x="0" y="-32519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2F14CB62-D915-C546-2D38-038AE763D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E197CF4-B04A-8169-B00D-2080EA0C89BC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9C7898DA-EAEC-89CB-E69E-3552C005D2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grpSp>
        <p:nvGrpSpPr>
          <p:cNvPr id="60" name="Group 2">
            <a:extLst>
              <a:ext uri="{FF2B5EF4-FFF2-40B4-BE49-F238E27FC236}">
                <a16:creationId xmlns:a16="http://schemas.microsoft.com/office/drawing/2014/main" id="{76A789E5-D83B-FD8B-FDC7-E812A7953547}"/>
              </a:ext>
            </a:extLst>
          </p:cNvPr>
          <p:cNvGrpSpPr/>
          <p:nvPr/>
        </p:nvGrpSpPr>
        <p:grpSpPr>
          <a:xfrm>
            <a:off x="605167" y="1410672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Freeform 3">
              <a:extLst>
                <a:ext uri="{FF2B5EF4-FFF2-40B4-BE49-F238E27FC236}">
                  <a16:creationId xmlns:a16="http://schemas.microsoft.com/office/drawing/2014/main" id="{10523F12-FF37-7B3A-7294-072D3E230A04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4">
              <a:extLst>
                <a:ext uri="{FF2B5EF4-FFF2-40B4-BE49-F238E27FC236}">
                  <a16:creationId xmlns:a16="http://schemas.microsoft.com/office/drawing/2014/main" id="{97062AE2-8409-892C-F343-80C4A6A176B8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742B62D4-8438-9140-D76A-CBB92662CC9F}"/>
              </a:ext>
            </a:extLst>
          </p:cNvPr>
          <p:cNvSpPr txBox="1"/>
          <p:nvPr/>
        </p:nvSpPr>
        <p:spPr>
          <a:xfrm>
            <a:off x="1406475" y="632069"/>
            <a:ext cx="9406063" cy="1333763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12564"/>
              </a:lnSpc>
            </a:pPr>
            <a:r>
              <a:rPr lang="en-GB" sz="3600" b="1" dirty="0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 ĐỒ DỰ ĐOÁN</a:t>
            </a:r>
            <a:endParaRPr lang="en-US" sz="3600" b="1" dirty="0">
              <a:solidFill>
                <a:srgbClr val="122C9E"/>
              </a:solidFill>
              <a:latin typeface="Arial" panose="020B0604020202020204" pitchFamily="34" charset="0"/>
              <a:ea typeface="Barlow Condensed Heavy"/>
              <a:cs typeface="Arial" panose="020B0604020202020204" pitchFamily="34" charset="0"/>
              <a:sym typeface="Barlow Condensed Heavy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F97A7F-76D2-54C3-F062-F96E2FC4F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5" y="2818444"/>
            <a:ext cx="190534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3CC74C-4711-7A2D-55B8-1724CE766782}"/>
              </a:ext>
            </a:extLst>
          </p:cNvPr>
          <p:cNvSpPr txBox="1"/>
          <p:nvPr/>
        </p:nvSpPr>
        <p:spPr>
          <a:xfrm>
            <a:off x="7158038" y="2528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0D6B153-B209-7F38-6524-5E9DEE810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9453" y="2864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82063FE-9281-C7F1-2FBF-B0A69D7D5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1AE746-B348-5D0F-EA16-E5AB9B0C3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818" y="2283690"/>
            <a:ext cx="160803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217" name="Picture 7" descr="Generated image">
            <a:extLst>
              <a:ext uri="{FF2B5EF4-FFF2-40B4-BE49-F238E27FC236}">
                <a16:creationId xmlns:a16="http://schemas.microsoft.com/office/drawing/2014/main" id="{24BD0D93-4A64-6FC6-387E-9CE329B85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791" y="2219230"/>
            <a:ext cx="1849016" cy="3942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FF9485F-710E-AE00-A637-3707F03B0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3599" y="6201715"/>
            <a:ext cx="2311400" cy="249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5: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Tổng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báo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E5828-DB99-3276-DE1B-2724FB1ED969}"/>
              </a:ext>
            </a:extLst>
          </p:cNvPr>
          <p:cNvSpPr/>
          <p:nvPr/>
        </p:nvSpPr>
        <p:spPr>
          <a:xfrm>
            <a:off x="593317" y="2120596"/>
            <a:ext cx="10219221" cy="81184"/>
          </a:xfrm>
          <a:prstGeom prst="rect">
            <a:avLst/>
          </a:prstGeom>
          <a:solidFill>
            <a:srgbClr val="0073D5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2374BF-6829-D420-7AFF-2879E5EE23AC}"/>
              </a:ext>
            </a:extLst>
          </p:cNvPr>
          <p:cNvSpPr txBox="1"/>
          <p:nvPr/>
        </p:nvSpPr>
        <p:spPr>
          <a:xfrm>
            <a:off x="2812869" y="40756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E02D4F3-02C3-CFA2-CB0A-CBE044D05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07" y="2205192"/>
            <a:ext cx="828929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Quy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báo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gồm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bước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(1)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Nạp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đồng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nạp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huấn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luyện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gồm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pipeline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biến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đổi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danh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sách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đặc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trưng</a:t>
            </a:r>
            <a:r>
              <a:rPr lang="en-US" altLang="en-US" dirty="0">
                <a:solidFill>
                  <a:srgbClr val="122C9E"/>
                </a:solidFill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(2)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đặc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trưng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vào</a:t>
            </a:r>
            <a:r>
              <a:rPr lang="en-US" altLang="en-US" dirty="0">
                <a:solidFill>
                  <a:srgbClr val="122C9E"/>
                </a:solidFill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(3)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tiếp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tục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căn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chỉnh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cột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đúng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cấu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trúc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lưu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huấn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luyện</a:t>
            </a:r>
            <a:r>
              <a:rPr lang="en-US" altLang="en-US" dirty="0">
                <a:solidFill>
                  <a:srgbClr val="122C9E"/>
                </a:solidFill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(4) Sau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đó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đưa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qua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biến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đổi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gồm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thiếu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ngoại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lai,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chuẩn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lang="en-US" altLang="en-US" dirty="0">
                <a:solidFill>
                  <a:srgbClr val="122C9E"/>
                </a:solidFill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(5)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Ở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bước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báo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Stacking Ensemble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suy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luận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nhánh</a:t>
            </a:r>
            <a:r>
              <a:rPr lang="en-US" altLang="en-US" dirty="0">
                <a:solidFill>
                  <a:srgbClr val="122C9E"/>
                </a:solidFill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Nhánh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loại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định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mưa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hay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Nhánh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hồi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ước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lượng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lượng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mưa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suất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mưa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vượt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ngưỡng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(6)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quả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cuối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cùng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dưới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dạng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trạng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thái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mưa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lượng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mưa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báo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phục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vụ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hiển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thị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hỗ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quyết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định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5539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E1ECA-2268-AC30-52A5-45C4D353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">
            <a:extLst>
              <a:ext uri="{FF2B5EF4-FFF2-40B4-BE49-F238E27FC236}">
                <a16:creationId xmlns:a16="http://schemas.microsoft.com/office/drawing/2014/main" id="{5856FCD5-E0B7-AA1C-CAEA-2467A648BED5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3E9BE7A6-5766-7B38-A5D9-006A0D64C45D}"/>
              </a:ext>
            </a:extLst>
          </p:cNvPr>
          <p:cNvSpPr/>
          <p:nvPr/>
        </p:nvSpPr>
        <p:spPr>
          <a:xfrm rot="16200000">
            <a:off x="180101" y="5978521"/>
            <a:ext cx="728414" cy="718398"/>
          </a:xfrm>
          <a:custGeom>
            <a:avLst/>
            <a:gdLst/>
            <a:ahLst/>
            <a:cxnLst/>
            <a:rect l="l" t="t" r="r" b="b"/>
            <a:pathLst>
              <a:path w="1196501" h="1180049">
                <a:moveTo>
                  <a:pt x="0" y="0"/>
                </a:moveTo>
                <a:lnTo>
                  <a:pt x="1196500" y="0"/>
                </a:lnTo>
                <a:lnTo>
                  <a:pt x="1196500" y="1180049"/>
                </a:lnTo>
                <a:lnTo>
                  <a:pt x="0" y="1180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EC3F6B0-9635-DFFD-DC09-E180BC7C5FDF}"/>
              </a:ext>
            </a:extLst>
          </p:cNvPr>
          <p:cNvGrpSpPr/>
          <p:nvPr/>
        </p:nvGrpSpPr>
        <p:grpSpPr>
          <a:xfrm>
            <a:off x="344129" y="243085"/>
            <a:ext cx="10569678" cy="834528"/>
            <a:chOff x="514237" y="467332"/>
            <a:chExt cx="11102286" cy="834528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B3A058A2-14F7-1517-6339-0C71B43FA563}"/>
                </a:ext>
              </a:extLst>
            </p:cNvPr>
            <p:cNvGrpSpPr/>
            <p:nvPr/>
          </p:nvGrpSpPr>
          <p:grpSpPr>
            <a:xfrm rot="5400000">
              <a:off x="5653678" y="-4660985"/>
              <a:ext cx="823404" cy="11102286"/>
              <a:chOff x="0" y="-32519"/>
              <a:chExt cx="169362" cy="3394058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599EA0D7-839F-BA94-1BA4-EED505ECBD3E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9DD2798D-D679-AE70-3EB7-BA8762B52516}"/>
                  </a:ext>
                </a:extLst>
              </p:cNvPr>
              <p:cNvSpPr txBox="1"/>
              <p:nvPr/>
            </p:nvSpPr>
            <p:spPr>
              <a:xfrm>
                <a:off x="0" y="-32519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0EB5161-6123-882B-AA36-620C46BC4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0853C8F-A3AE-9C49-31F2-15C3F3AE0BF4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3F8506FF-E1D2-49A4-8E56-C5B3CB0AB6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grpSp>
        <p:nvGrpSpPr>
          <p:cNvPr id="60" name="Group 2">
            <a:extLst>
              <a:ext uri="{FF2B5EF4-FFF2-40B4-BE49-F238E27FC236}">
                <a16:creationId xmlns:a16="http://schemas.microsoft.com/office/drawing/2014/main" id="{24A74311-DAA2-78AC-4C2F-0F0A51C7D0D8}"/>
              </a:ext>
            </a:extLst>
          </p:cNvPr>
          <p:cNvGrpSpPr/>
          <p:nvPr/>
        </p:nvGrpSpPr>
        <p:grpSpPr>
          <a:xfrm>
            <a:off x="605167" y="1410672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Freeform 3">
              <a:extLst>
                <a:ext uri="{FF2B5EF4-FFF2-40B4-BE49-F238E27FC236}">
                  <a16:creationId xmlns:a16="http://schemas.microsoft.com/office/drawing/2014/main" id="{55AAE248-347B-36DA-50AC-A83F79012702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4">
              <a:extLst>
                <a:ext uri="{FF2B5EF4-FFF2-40B4-BE49-F238E27FC236}">
                  <a16:creationId xmlns:a16="http://schemas.microsoft.com/office/drawing/2014/main" id="{091D7A8E-5F3B-C0B6-7A78-0253951F6C77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3BAA32D-18A2-8F89-386C-66D018A38C28}"/>
              </a:ext>
            </a:extLst>
          </p:cNvPr>
          <p:cNvSpPr txBox="1"/>
          <p:nvPr/>
        </p:nvSpPr>
        <p:spPr>
          <a:xfrm>
            <a:off x="1406475" y="632069"/>
            <a:ext cx="9406063" cy="1333763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12564"/>
              </a:lnSpc>
            </a:pPr>
            <a:r>
              <a:rPr lang="en-GB" sz="3600" b="1" dirty="0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THỰC NGHIỆM VÀ ĐÁNH GIÁ</a:t>
            </a:r>
            <a:endParaRPr lang="en-US" sz="3600" b="1" dirty="0">
              <a:solidFill>
                <a:srgbClr val="122C9E"/>
              </a:solidFill>
              <a:latin typeface="Arial" panose="020B0604020202020204" pitchFamily="34" charset="0"/>
              <a:ea typeface="Barlow Condensed Heavy"/>
              <a:cs typeface="Arial" panose="020B0604020202020204" pitchFamily="34" charset="0"/>
              <a:sym typeface="Barlow Condensed Heavy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45D5B00-01E5-032C-4CFB-47B005E5D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5" y="2818444"/>
            <a:ext cx="190534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34B8EB-696B-9F34-E052-149231D4E953}"/>
              </a:ext>
            </a:extLst>
          </p:cNvPr>
          <p:cNvSpPr txBox="1"/>
          <p:nvPr/>
        </p:nvSpPr>
        <p:spPr>
          <a:xfrm>
            <a:off x="7158038" y="2528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53DB9FA-27C6-1199-E4B8-A0E3D4C02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9453" y="2864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6BBC0B8-1068-A699-146E-76D29386E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EEC301-E41F-9192-F2C8-7EC3226E3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818" y="2283690"/>
            <a:ext cx="160803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07BF291-5252-58BE-56FC-92BAE20B8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36" y="2441467"/>
            <a:ext cx="1029410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Tập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sử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dụng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trong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nghiên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cứu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được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thập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52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trạm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quan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trắc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khí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tượng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khu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vực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Đồng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bằng</a:t>
            </a:r>
            <a:r>
              <a:rPr lang="en-US" altLang="en-US" dirty="0">
                <a:solidFill>
                  <a:srgbClr val="122C9E"/>
                </a:solidFill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sông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Cửu Long (ĐBSCL)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trong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giai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đoạn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tháng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12/2025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đến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tháng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03/2026, bao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gồm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tổng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cộng</a:t>
            </a:r>
            <a:r>
              <a:rPr lang="en-US" altLang="en-US" dirty="0">
                <a:solidFill>
                  <a:srgbClr val="122C9E"/>
                </a:solidFill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361.445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bản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ghi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sau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khi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trải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qua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quy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trình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tiền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xử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lý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6217A4-F1C1-F351-2C8E-E0D44B0E93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425" y="3452218"/>
            <a:ext cx="3536955" cy="2519002"/>
          </a:xfrm>
          <a:prstGeom prst="rect">
            <a:avLst/>
          </a:prstGeom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59705F6B-7C8E-238F-A57E-B7DBFB917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7938" y="6144394"/>
            <a:ext cx="41783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Bảng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1: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Tập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nghiệm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272BE3B5-F067-F142-A5C0-004F328A9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6672" y="6091499"/>
            <a:ext cx="2422459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6: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Cấu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máy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cá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nhân</a:t>
            </a:r>
            <a:endParaRPr kumimoji="0" lang="en-US" altLang="en-US" sz="100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FD4ABD2-41E5-A316-561D-F1793CCF7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739737"/>
              </p:ext>
            </p:extLst>
          </p:nvPr>
        </p:nvGraphicFramePr>
        <p:xfrm>
          <a:off x="1170734" y="3455946"/>
          <a:ext cx="5163468" cy="25972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1156">
                  <a:extLst>
                    <a:ext uri="{9D8B030D-6E8A-4147-A177-3AD203B41FA5}">
                      <a16:colId xmlns:a16="http://schemas.microsoft.com/office/drawing/2014/main" val="3326128529"/>
                    </a:ext>
                  </a:extLst>
                </a:gridCol>
                <a:gridCol w="1721156">
                  <a:extLst>
                    <a:ext uri="{9D8B030D-6E8A-4147-A177-3AD203B41FA5}">
                      <a16:colId xmlns:a16="http://schemas.microsoft.com/office/drawing/2014/main" val="1570223921"/>
                    </a:ext>
                  </a:extLst>
                </a:gridCol>
                <a:gridCol w="1721156">
                  <a:extLst>
                    <a:ext uri="{9D8B030D-6E8A-4147-A177-3AD203B41FA5}">
                      <a16:colId xmlns:a16="http://schemas.microsoft.com/office/drawing/2014/main" val="568517728"/>
                    </a:ext>
                  </a:extLst>
                </a:gridCol>
              </a:tblGrid>
              <a:tr h="6451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Tập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endParaRPr lang="en-GB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 mẫu</a:t>
                      </a:r>
                      <a:endParaRPr lang="en-GB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Vai 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trò</a:t>
                      </a:r>
                      <a:endParaRPr lang="en-GB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1930758396"/>
                  </a:ext>
                </a:extLst>
              </a:tr>
              <a:tr h="645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</a:t>
                      </a:r>
                      <a:endParaRPr lang="en-GB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289.156</a:t>
                      </a:r>
                      <a:endParaRPr lang="en-GB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Huấn luyện mô hình</a:t>
                      </a:r>
                      <a:endParaRPr lang="en-GB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1765646525"/>
                  </a:ext>
                </a:extLst>
              </a:tr>
              <a:tr h="6451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Validation</a:t>
                      </a:r>
                      <a:endParaRPr lang="en-GB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36.144</a:t>
                      </a:r>
                      <a:endParaRPr lang="en-GB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Tinh 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chỉnh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early stopping [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Dừng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sớm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lang="en-GB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2200453154"/>
                  </a:ext>
                </a:extLst>
              </a:tr>
              <a:tr h="6619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  <a:endParaRPr lang="en-GB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36.145</a:t>
                      </a:r>
                      <a:endParaRPr lang="en-GB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Đánh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cuối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cùng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tham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huấn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luyện</a:t>
                      </a:r>
                      <a:r>
                        <a:rPr lang="en-GB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GB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2541030300"/>
                  </a:ext>
                </a:extLst>
              </a:tr>
            </a:tbl>
          </a:graphicData>
        </a:graphic>
      </p:graphicFrame>
      <p:sp>
        <p:nvSpPr>
          <p:cNvPr id="19" name="Rectangle 5">
            <a:extLst>
              <a:ext uri="{FF2B5EF4-FFF2-40B4-BE49-F238E27FC236}">
                <a16:creationId xmlns:a16="http://schemas.microsoft.com/office/drawing/2014/main" id="{F9E38F0E-9CA8-2A61-5AF0-8D06141D2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2773362"/>
            <a:ext cx="8038416" cy="495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38E788-62BE-3F78-C637-B94AAF885FC3}"/>
              </a:ext>
            </a:extLst>
          </p:cNvPr>
          <p:cNvSpPr/>
          <p:nvPr/>
        </p:nvSpPr>
        <p:spPr>
          <a:xfrm>
            <a:off x="593317" y="2120596"/>
            <a:ext cx="10219221" cy="81184"/>
          </a:xfrm>
          <a:prstGeom prst="rect">
            <a:avLst/>
          </a:prstGeom>
          <a:solidFill>
            <a:srgbClr val="0073D5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38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813F6-592F-DBE2-7B83-035248F9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">
            <a:extLst>
              <a:ext uri="{FF2B5EF4-FFF2-40B4-BE49-F238E27FC236}">
                <a16:creationId xmlns:a16="http://schemas.microsoft.com/office/drawing/2014/main" id="{AFF148CD-C1D8-878B-21EB-6C62A00CA51C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E9B5FA62-79E8-88D2-286E-DE19EF355885}"/>
              </a:ext>
            </a:extLst>
          </p:cNvPr>
          <p:cNvSpPr/>
          <p:nvPr/>
        </p:nvSpPr>
        <p:spPr>
          <a:xfrm rot="16200000">
            <a:off x="180101" y="5978521"/>
            <a:ext cx="728414" cy="718398"/>
          </a:xfrm>
          <a:custGeom>
            <a:avLst/>
            <a:gdLst/>
            <a:ahLst/>
            <a:cxnLst/>
            <a:rect l="l" t="t" r="r" b="b"/>
            <a:pathLst>
              <a:path w="1196501" h="1180049">
                <a:moveTo>
                  <a:pt x="0" y="0"/>
                </a:moveTo>
                <a:lnTo>
                  <a:pt x="1196500" y="0"/>
                </a:lnTo>
                <a:lnTo>
                  <a:pt x="1196500" y="1180049"/>
                </a:lnTo>
                <a:lnTo>
                  <a:pt x="0" y="1180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EAC279B-0AA0-CAF1-0E7C-70A11B93E68C}"/>
              </a:ext>
            </a:extLst>
          </p:cNvPr>
          <p:cNvGrpSpPr/>
          <p:nvPr/>
        </p:nvGrpSpPr>
        <p:grpSpPr>
          <a:xfrm>
            <a:off x="344129" y="243085"/>
            <a:ext cx="10569678" cy="834528"/>
            <a:chOff x="514237" y="467332"/>
            <a:chExt cx="11102286" cy="834528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31D3FCF7-CD4E-498C-E761-1BE758D673A3}"/>
                </a:ext>
              </a:extLst>
            </p:cNvPr>
            <p:cNvGrpSpPr/>
            <p:nvPr/>
          </p:nvGrpSpPr>
          <p:grpSpPr>
            <a:xfrm rot="5400000">
              <a:off x="5653678" y="-4660985"/>
              <a:ext cx="823404" cy="11102286"/>
              <a:chOff x="0" y="-32519"/>
              <a:chExt cx="169362" cy="3394058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BED86384-52F5-EC9C-35BE-00CA9A42673D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3208022F-BEA2-6563-C942-083536EB22CA}"/>
                  </a:ext>
                </a:extLst>
              </p:cNvPr>
              <p:cNvSpPr txBox="1"/>
              <p:nvPr/>
            </p:nvSpPr>
            <p:spPr>
              <a:xfrm>
                <a:off x="0" y="-32519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97FCC89-1D4E-1315-FCFF-8387EECF4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1883035-307D-174F-D3A4-8959172697A7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A2B61D1D-D269-123A-8D51-C7572D8ADB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grpSp>
        <p:nvGrpSpPr>
          <p:cNvPr id="60" name="Group 2">
            <a:extLst>
              <a:ext uri="{FF2B5EF4-FFF2-40B4-BE49-F238E27FC236}">
                <a16:creationId xmlns:a16="http://schemas.microsoft.com/office/drawing/2014/main" id="{62A3A985-8C6E-6BED-66A4-B6301215779F}"/>
              </a:ext>
            </a:extLst>
          </p:cNvPr>
          <p:cNvGrpSpPr/>
          <p:nvPr/>
        </p:nvGrpSpPr>
        <p:grpSpPr>
          <a:xfrm>
            <a:off x="605167" y="1410672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Freeform 3">
              <a:extLst>
                <a:ext uri="{FF2B5EF4-FFF2-40B4-BE49-F238E27FC236}">
                  <a16:creationId xmlns:a16="http://schemas.microsoft.com/office/drawing/2014/main" id="{5481AF79-88F3-0D40-B919-BC06FB9F2A54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4">
              <a:extLst>
                <a:ext uri="{FF2B5EF4-FFF2-40B4-BE49-F238E27FC236}">
                  <a16:creationId xmlns:a16="http://schemas.microsoft.com/office/drawing/2014/main" id="{95AA4C65-E0B7-9A26-F813-3F3DA8FAF12D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2521B2CB-1502-C4D6-7D28-1D33EBA4F585}"/>
              </a:ext>
            </a:extLst>
          </p:cNvPr>
          <p:cNvSpPr txBox="1"/>
          <p:nvPr/>
        </p:nvSpPr>
        <p:spPr>
          <a:xfrm>
            <a:off x="1406475" y="632069"/>
            <a:ext cx="9406063" cy="1333763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12564"/>
              </a:lnSpc>
            </a:pPr>
            <a:r>
              <a:rPr lang="en-GB" sz="3600" b="1" dirty="0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THỰC NGHIỆM VÀ ĐÁNH GIÁ</a:t>
            </a:r>
            <a:endParaRPr lang="en-US" sz="3600" b="1" dirty="0">
              <a:solidFill>
                <a:srgbClr val="122C9E"/>
              </a:solidFill>
              <a:latin typeface="Arial" panose="020B0604020202020204" pitchFamily="34" charset="0"/>
              <a:ea typeface="Barlow Condensed Heavy"/>
              <a:cs typeface="Arial" panose="020B0604020202020204" pitchFamily="34" charset="0"/>
              <a:sym typeface="Barlow Condensed Heavy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8BAB380-BFB9-0AC5-6C5C-8C0DB916E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5" y="2818444"/>
            <a:ext cx="190534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28EE89-D18F-27C3-1CE8-5FE1CC9FA2A4}"/>
              </a:ext>
            </a:extLst>
          </p:cNvPr>
          <p:cNvSpPr txBox="1"/>
          <p:nvPr/>
        </p:nvSpPr>
        <p:spPr>
          <a:xfrm>
            <a:off x="7158038" y="2528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AC701B0-3E37-E43D-C223-E8D0FD1EB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9453" y="2864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F54D932-DFA8-AF4E-1D10-25C1C5946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1C6284-F453-5FF2-992E-42DC924FB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818" y="2283690"/>
            <a:ext cx="160803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C953807-4160-8B69-20F6-6FF311DDA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721050"/>
              </p:ext>
            </p:extLst>
          </p:nvPr>
        </p:nvGraphicFramePr>
        <p:xfrm>
          <a:off x="544307" y="2353339"/>
          <a:ext cx="10268232" cy="9224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1372">
                  <a:extLst>
                    <a:ext uri="{9D8B030D-6E8A-4147-A177-3AD203B41FA5}">
                      <a16:colId xmlns:a16="http://schemas.microsoft.com/office/drawing/2014/main" val="3314140121"/>
                    </a:ext>
                  </a:extLst>
                </a:gridCol>
                <a:gridCol w="1711372">
                  <a:extLst>
                    <a:ext uri="{9D8B030D-6E8A-4147-A177-3AD203B41FA5}">
                      <a16:colId xmlns:a16="http://schemas.microsoft.com/office/drawing/2014/main" val="2119853704"/>
                    </a:ext>
                  </a:extLst>
                </a:gridCol>
                <a:gridCol w="1711372">
                  <a:extLst>
                    <a:ext uri="{9D8B030D-6E8A-4147-A177-3AD203B41FA5}">
                      <a16:colId xmlns:a16="http://schemas.microsoft.com/office/drawing/2014/main" val="4290297038"/>
                    </a:ext>
                  </a:extLst>
                </a:gridCol>
                <a:gridCol w="1711372">
                  <a:extLst>
                    <a:ext uri="{9D8B030D-6E8A-4147-A177-3AD203B41FA5}">
                      <a16:colId xmlns:a16="http://schemas.microsoft.com/office/drawing/2014/main" val="2295514698"/>
                    </a:ext>
                  </a:extLst>
                </a:gridCol>
                <a:gridCol w="1711372">
                  <a:extLst>
                    <a:ext uri="{9D8B030D-6E8A-4147-A177-3AD203B41FA5}">
                      <a16:colId xmlns:a16="http://schemas.microsoft.com/office/drawing/2014/main" val="2655792996"/>
                    </a:ext>
                  </a:extLst>
                </a:gridCol>
                <a:gridCol w="1711372">
                  <a:extLst>
                    <a:ext uri="{9D8B030D-6E8A-4147-A177-3AD203B41FA5}">
                      <a16:colId xmlns:a16="http://schemas.microsoft.com/office/drawing/2014/main" val="200604360"/>
                    </a:ext>
                  </a:extLst>
                </a:gridCol>
              </a:tblGrid>
              <a:tr h="333643"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kern="100">
                          <a:effectLst/>
                        </a:rPr>
                        <a:t>STACKING – TEST CLASSIFICATION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812025"/>
                  </a:ext>
                </a:extLst>
              </a:tr>
              <a:tr h="588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kern="100" dirty="0">
                          <a:effectLst/>
                        </a:rPr>
                        <a:t>Accuracy: 0.8070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kern="100" dirty="0">
                          <a:effectLst/>
                        </a:rPr>
                        <a:t>Precision: 0.8432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kern="100" dirty="0">
                          <a:effectLst/>
                        </a:rPr>
                        <a:t>Recall: 0.8821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kern="100" dirty="0">
                          <a:effectLst/>
                        </a:rPr>
                        <a:t>F1: 0.8622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kern="100" dirty="0">
                          <a:effectLst/>
                        </a:rPr>
                        <a:t>CSI: 0.7578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kern="100" dirty="0">
                          <a:effectLst/>
                        </a:rPr>
                        <a:t>FAR: 0.1568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06968204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1A146D5F-4A8E-C12C-54BE-410A6484F7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89" y="3451311"/>
            <a:ext cx="9272793" cy="2422105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CBBA57C9-1888-19C6-EF19-DDD683C4E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154" y="5925854"/>
            <a:ext cx="912949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7: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Biểu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đồ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tích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loại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Stacking Ensemble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tập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kiểm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tra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663271-3D93-1E1F-A16D-9ECF1B365361}"/>
              </a:ext>
            </a:extLst>
          </p:cNvPr>
          <p:cNvSpPr/>
          <p:nvPr/>
        </p:nvSpPr>
        <p:spPr>
          <a:xfrm>
            <a:off x="593317" y="2120596"/>
            <a:ext cx="10219221" cy="81184"/>
          </a:xfrm>
          <a:prstGeom prst="rect">
            <a:avLst/>
          </a:prstGeom>
          <a:solidFill>
            <a:srgbClr val="0073D5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51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72A48-3492-9501-D1EB-29AEF8EB9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">
            <a:extLst>
              <a:ext uri="{FF2B5EF4-FFF2-40B4-BE49-F238E27FC236}">
                <a16:creationId xmlns:a16="http://schemas.microsoft.com/office/drawing/2014/main" id="{07DEB323-69AC-DE91-04C7-76BBACA1CA1D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8378E97E-F053-C68F-F0B0-009BD48E6C0A}"/>
              </a:ext>
            </a:extLst>
          </p:cNvPr>
          <p:cNvSpPr/>
          <p:nvPr/>
        </p:nvSpPr>
        <p:spPr>
          <a:xfrm rot="16200000">
            <a:off x="180101" y="5978521"/>
            <a:ext cx="728414" cy="718398"/>
          </a:xfrm>
          <a:custGeom>
            <a:avLst/>
            <a:gdLst/>
            <a:ahLst/>
            <a:cxnLst/>
            <a:rect l="l" t="t" r="r" b="b"/>
            <a:pathLst>
              <a:path w="1196501" h="1180049">
                <a:moveTo>
                  <a:pt x="0" y="0"/>
                </a:moveTo>
                <a:lnTo>
                  <a:pt x="1196500" y="0"/>
                </a:lnTo>
                <a:lnTo>
                  <a:pt x="1196500" y="1180049"/>
                </a:lnTo>
                <a:lnTo>
                  <a:pt x="0" y="1180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1FB6D11-909A-021D-0FB6-5690447C7C1F}"/>
              </a:ext>
            </a:extLst>
          </p:cNvPr>
          <p:cNvGrpSpPr/>
          <p:nvPr/>
        </p:nvGrpSpPr>
        <p:grpSpPr>
          <a:xfrm>
            <a:off x="344129" y="243085"/>
            <a:ext cx="10569678" cy="834528"/>
            <a:chOff x="514237" y="467332"/>
            <a:chExt cx="11102286" cy="834528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8E6EF03F-4112-5570-F596-10EE09B16641}"/>
                </a:ext>
              </a:extLst>
            </p:cNvPr>
            <p:cNvGrpSpPr/>
            <p:nvPr/>
          </p:nvGrpSpPr>
          <p:grpSpPr>
            <a:xfrm rot="5400000">
              <a:off x="5653678" y="-4660985"/>
              <a:ext cx="823404" cy="11102286"/>
              <a:chOff x="0" y="-32519"/>
              <a:chExt cx="169362" cy="3394058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4EC01971-CD48-E5CA-4F87-F74B14ADAD66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A235578B-3678-C44E-A2C8-592B8D6581FC}"/>
                  </a:ext>
                </a:extLst>
              </p:cNvPr>
              <p:cNvSpPr txBox="1"/>
              <p:nvPr/>
            </p:nvSpPr>
            <p:spPr>
              <a:xfrm>
                <a:off x="0" y="-32519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34ED7F6C-E845-380E-D88A-BBB4C8C8C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316E040-B48B-1933-6D24-9A4F231B3DF2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62CD1867-7D10-4AF8-044C-4B4F80D46D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grpSp>
        <p:nvGrpSpPr>
          <p:cNvPr id="60" name="Group 2">
            <a:extLst>
              <a:ext uri="{FF2B5EF4-FFF2-40B4-BE49-F238E27FC236}">
                <a16:creationId xmlns:a16="http://schemas.microsoft.com/office/drawing/2014/main" id="{6FD27C88-CE35-D814-43F5-C883CF8458E7}"/>
              </a:ext>
            </a:extLst>
          </p:cNvPr>
          <p:cNvGrpSpPr/>
          <p:nvPr/>
        </p:nvGrpSpPr>
        <p:grpSpPr>
          <a:xfrm>
            <a:off x="605167" y="1410672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Freeform 3">
              <a:extLst>
                <a:ext uri="{FF2B5EF4-FFF2-40B4-BE49-F238E27FC236}">
                  <a16:creationId xmlns:a16="http://schemas.microsoft.com/office/drawing/2014/main" id="{5F9996EE-D524-B8D4-2981-C7E4CCE1DC82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4">
              <a:extLst>
                <a:ext uri="{FF2B5EF4-FFF2-40B4-BE49-F238E27FC236}">
                  <a16:creationId xmlns:a16="http://schemas.microsoft.com/office/drawing/2014/main" id="{462A63AB-3F71-FFE4-67DD-2E59F0591A3C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3F418318-CE07-499A-1627-B7B99CEB7EFD}"/>
              </a:ext>
            </a:extLst>
          </p:cNvPr>
          <p:cNvSpPr txBox="1"/>
          <p:nvPr/>
        </p:nvSpPr>
        <p:spPr>
          <a:xfrm>
            <a:off x="1406475" y="632069"/>
            <a:ext cx="9406063" cy="1333763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12564"/>
              </a:lnSpc>
            </a:pPr>
            <a:r>
              <a:rPr lang="en-GB" sz="3600" b="1" dirty="0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THỰC NGHIỆM VÀ ĐÁNH GIÁ</a:t>
            </a:r>
            <a:endParaRPr lang="en-US" sz="3600" b="1" dirty="0">
              <a:solidFill>
                <a:srgbClr val="122C9E"/>
              </a:solidFill>
              <a:latin typeface="Arial" panose="020B0604020202020204" pitchFamily="34" charset="0"/>
              <a:ea typeface="Barlow Condensed Heavy"/>
              <a:cs typeface="Arial" panose="020B0604020202020204" pitchFamily="34" charset="0"/>
              <a:sym typeface="Barlow Condensed Heavy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E066148-CE0E-8EBD-53FA-771D4EFD2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5" y="2818444"/>
            <a:ext cx="190534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0A0C1-68C5-41E2-6B7B-7A4B3894705C}"/>
              </a:ext>
            </a:extLst>
          </p:cNvPr>
          <p:cNvSpPr txBox="1"/>
          <p:nvPr/>
        </p:nvSpPr>
        <p:spPr>
          <a:xfrm>
            <a:off x="7158038" y="2528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8F76845-490B-F1AE-1620-703BCAEC4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9453" y="2864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C02B063-D6C7-424F-D384-440B98A61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65C1B0-F762-6EC3-CCBB-7919E9A25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818" y="2283690"/>
            <a:ext cx="160803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F904CF-CADC-0701-89D3-A83AE09395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503" y="2375269"/>
            <a:ext cx="5012366" cy="374850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C4DB616-315B-3285-CD3A-F8BA28B36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068" y="6131379"/>
            <a:ext cx="369570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8: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ảnh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đánh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nặng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3BF04F-AE58-836D-3822-E097231597BD}"/>
              </a:ext>
            </a:extLst>
          </p:cNvPr>
          <p:cNvSpPr/>
          <p:nvPr/>
        </p:nvSpPr>
        <p:spPr>
          <a:xfrm>
            <a:off x="593317" y="2120596"/>
            <a:ext cx="10219221" cy="81184"/>
          </a:xfrm>
          <a:prstGeom prst="rect">
            <a:avLst/>
          </a:prstGeom>
          <a:solidFill>
            <a:srgbClr val="0073D5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23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BDAA2-1E95-CA34-5AAD-5B72DB806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">
            <a:extLst>
              <a:ext uri="{FF2B5EF4-FFF2-40B4-BE49-F238E27FC236}">
                <a16:creationId xmlns:a16="http://schemas.microsoft.com/office/drawing/2014/main" id="{4D165DDC-DFB9-B0F9-778E-B891AE9669F7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74D73D39-910B-8339-0079-36FE573A1E78}"/>
              </a:ext>
            </a:extLst>
          </p:cNvPr>
          <p:cNvSpPr/>
          <p:nvPr/>
        </p:nvSpPr>
        <p:spPr>
          <a:xfrm rot="16200000">
            <a:off x="180101" y="5978521"/>
            <a:ext cx="728414" cy="718398"/>
          </a:xfrm>
          <a:custGeom>
            <a:avLst/>
            <a:gdLst/>
            <a:ahLst/>
            <a:cxnLst/>
            <a:rect l="l" t="t" r="r" b="b"/>
            <a:pathLst>
              <a:path w="1196501" h="1180049">
                <a:moveTo>
                  <a:pt x="0" y="0"/>
                </a:moveTo>
                <a:lnTo>
                  <a:pt x="1196500" y="0"/>
                </a:lnTo>
                <a:lnTo>
                  <a:pt x="1196500" y="1180049"/>
                </a:lnTo>
                <a:lnTo>
                  <a:pt x="0" y="1180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728C78D-2CB0-2529-A9DE-135939A799C4}"/>
              </a:ext>
            </a:extLst>
          </p:cNvPr>
          <p:cNvGrpSpPr/>
          <p:nvPr/>
        </p:nvGrpSpPr>
        <p:grpSpPr>
          <a:xfrm>
            <a:off x="344129" y="243085"/>
            <a:ext cx="10569678" cy="834528"/>
            <a:chOff x="514237" y="467332"/>
            <a:chExt cx="11102286" cy="834528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9E2CEB3B-2A4B-C046-16DD-6E6515F1CED8}"/>
                </a:ext>
              </a:extLst>
            </p:cNvPr>
            <p:cNvGrpSpPr/>
            <p:nvPr/>
          </p:nvGrpSpPr>
          <p:grpSpPr>
            <a:xfrm rot="5400000">
              <a:off x="5653678" y="-4660985"/>
              <a:ext cx="823404" cy="11102286"/>
              <a:chOff x="0" y="-32519"/>
              <a:chExt cx="169362" cy="3394058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356171F7-5916-8EE0-DA76-BBF668CAB332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E6D103FE-5D88-EC82-2490-9C77F946BF41}"/>
                  </a:ext>
                </a:extLst>
              </p:cNvPr>
              <p:cNvSpPr txBox="1"/>
              <p:nvPr/>
            </p:nvSpPr>
            <p:spPr>
              <a:xfrm>
                <a:off x="0" y="-32519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7AF5A68A-65CC-7E52-053D-DD097D892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D735B2F-E4CF-DA04-CB25-267457157D02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B4B97C03-E4C9-9AB6-2B0A-EDDA2DEF57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grpSp>
        <p:nvGrpSpPr>
          <p:cNvPr id="60" name="Group 2">
            <a:extLst>
              <a:ext uri="{FF2B5EF4-FFF2-40B4-BE49-F238E27FC236}">
                <a16:creationId xmlns:a16="http://schemas.microsoft.com/office/drawing/2014/main" id="{C9683996-0115-1C83-F8DB-C6D6D5D4310D}"/>
              </a:ext>
            </a:extLst>
          </p:cNvPr>
          <p:cNvGrpSpPr/>
          <p:nvPr/>
        </p:nvGrpSpPr>
        <p:grpSpPr>
          <a:xfrm>
            <a:off x="605167" y="1410672"/>
            <a:ext cx="565567" cy="514662"/>
            <a:chOff x="0" y="0"/>
            <a:chExt cx="274792" cy="2747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Freeform 3">
              <a:extLst>
                <a:ext uri="{FF2B5EF4-FFF2-40B4-BE49-F238E27FC236}">
                  <a16:creationId xmlns:a16="http://schemas.microsoft.com/office/drawing/2014/main" id="{164B6E08-53F7-D879-3E61-1F2844880E38}"/>
                </a:ext>
              </a:extLst>
            </p:cNvPr>
            <p:cNvSpPr/>
            <p:nvPr/>
          </p:nvSpPr>
          <p:spPr>
            <a:xfrm>
              <a:off x="0" y="0"/>
              <a:ext cx="274792" cy="274792"/>
            </a:xfrm>
            <a:custGeom>
              <a:avLst/>
              <a:gdLst/>
              <a:ahLst/>
              <a:cxnLst/>
              <a:rect l="l" t="t" r="r" b="b"/>
              <a:pathLst>
                <a:path w="274792" h="274792">
                  <a:moveTo>
                    <a:pt x="74202" y="0"/>
                  </a:moveTo>
                  <a:lnTo>
                    <a:pt x="200590" y="0"/>
                  </a:lnTo>
                  <a:cubicBezTo>
                    <a:pt x="220269" y="0"/>
                    <a:pt x="239143" y="7818"/>
                    <a:pt x="253059" y="21733"/>
                  </a:cubicBezTo>
                  <a:cubicBezTo>
                    <a:pt x="266974" y="35649"/>
                    <a:pt x="274792" y="54523"/>
                    <a:pt x="274792" y="74202"/>
                  </a:cubicBezTo>
                  <a:lnTo>
                    <a:pt x="274792" y="200590"/>
                  </a:lnTo>
                  <a:cubicBezTo>
                    <a:pt x="274792" y="220269"/>
                    <a:pt x="266974" y="239143"/>
                    <a:pt x="253059" y="253059"/>
                  </a:cubicBezTo>
                  <a:cubicBezTo>
                    <a:pt x="239143" y="266974"/>
                    <a:pt x="220269" y="274792"/>
                    <a:pt x="200590" y="274792"/>
                  </a:cubicBezTo>
                  <a:lnTo>
                    <a:pt x="74202" y="274792"/>
                  </a:lnTo>
                  <a:cubicBezTo>
                    <a:pt x="54523" y="274792"/>
                    <a:pt x="35649" y="266974"/>
                    <a:pt x="21733" y="253059"/>
                  </a:cubicBezTo>
                  <a:cubicBezTo>
                    <a:pt x="7818" y="239143"/>
                    <a:pt x="0" y="220269"/>
                    <a:pt x="0" y="200590"/>
                  </a:cubicBezTo>
                  <a:lnTo>
                    <a:pt x="0" y="74202"/>
                  </a:lnTo>
                  <a:cubicBezTo>
                    <a:pt x="0" y="54523"/>
                    <a:pt x="7818" y="35649"/>
                    <a:pt x="21733" y="21733"/>
                  </a:cubicBezTo>
                  <a:cubicBezTo>
                    <a:pt x="35649" y="7818"/>
                    <a:pt x="54523" y="0"/>
                    <a:pt x="74202" y="0"/>
                  </a:cubicBezTo>
                  <a:close/>
                </a:path>
              </a:pathLst>
            </a:custGeom>
            <a:solidFill>
              <a:srgbClr val="0073D5"/>
            </a:solidFill>
          </p:spPr>
          <p:txBody>
            <a:bodyPr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4">
              <a:extLst>
                <a:ext uri="{FF2B5EF4-FFF2-40B4-BE49-F238E27FC236}">
                  <a16:creationId xmlns:a16="http://schemas.microsoft.com/office/drawing/2014/main" id="{401014B5-3D18-1AA2-503B-1EDB5B1F28AF}"/>
                </a:ext>
              </a:extLst>
            </p:cNvPr>
            <p:cNvSpPr txBox="1"/>
            <p:nvPr/>
          </p:nvSpPr>
          <p:spPr>
            <a:xfrm>
              <a:off x="0" y="-47625"/>
              <a:ext cx="274792" cy="3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7894576A-999F-7D48-6F93-B5EBBA1EAD98}"/>
              </a:ext>
            </a:extLst>
          </p:cNvPr>
          <p:cNvSpPr txBox="1"/>
          <p:nvPr/>
        </p:nvSpPr>
        <p:spPr>
          <a:xfrm>
            <a:off x="1406475" y="640468"/>
            <a:ext cx="10391704" cy="1316964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12564"/>
              </a:lnSpc>
            </a:pPr>
            <a:r>
              <a:rPr lang="en-GB" sz="3600" b="1" dirty="0">
                <a:solidFill>
                  <a:srgbClr val="122C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LUẬN, HẠN CHẾ VÀ HƯỚNG PHÁT TRIỂN</a:t>
            </a:r>
            <a:endParaRPr lang="en-US" sz="3600" b="1" dirty="0">
              <a:solidFill>
                <a:srgbClr val="122C9E"/>
              </a:solidFill>
              <a:latin typeface="Arial" panose="020B0604020202020204" pitchFamily="34" charset="0"/>
              <a:ea typeface="Barlow Condensed Heavy"/>
              <a:cs typeface="Arial" panose="020B0604020202020204" pitchFamily="34" charset="0"/>
              <a:sym typeface="Barlow Condensed Heavy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D9D9519-6E73-E0EE-8E42-56787861B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5" y="2818444"/>
            <a:ext cx="190534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DB36D2-3DE3-A446-E0BE-80F85A6B20C8}"/>
              </a:ext>
            </a:extLst>
          </p:cNvPr>
          <p:cNvSpPr txBox="1"/>
          <p:nvPr/>
        </p:nvSpPr>
        <p:spPr>
          <a:xfrm>
            <a:off x="7158038" y="2528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F45B412-E152-44B9-A876-37C131DAB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9453" y="2864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56B60AB-3316-40B6-7ECB-E3815754F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BC896F-234C-6DD5-CC9A-14F15920B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818" y="2283690"/>
            <a:ext cx="160803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845BCF-315E-1247-3B86-CDF6243E0412}"/>
              </a:ext>
            </a:extLst>
          </p:cNvPr>
          <p:cNvSpPr/>
          <p:nvPr/>
        </p:nvSpPr>
        <p:spPr>
          <a:xfrm>
            <a:off x="593317" y="2120596"/>
            <a:ext cx="11019563" cy="45719"/>
          </a:xfrm>
          <a:prstGeom prst="rect">
            <a:avLst/>
          </a:prstGeom>
          <a:solidFill>
            <a:srgbClr val="0073D5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30E228F-BBE9-C3CA-59CC-CA15E0070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08" y="2421166"/>
            <a:ext cx="1101956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luận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thành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VN Weather Hub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bài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báo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lượng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mưa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ngắn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môi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trường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tài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nguyên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chế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Stacking Ensemble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xác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tốt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khả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năng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tổng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quát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cao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phù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triển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khai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tầng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cục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bộ</a:t>
            </a:r>
            <a:r>
              <a:rPr lang="en-US" altLang="en-US" sz="2000" dirty="0">
                <a:solidFill>
                  <a:srgbClr val="122C9E"/>
                </a:solidFill>
                <a:latin typeface="Arial" panose="020B0604020202020204" pitchFamily="34" charset="0"/>
              </a:rPr>
              <a:t>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Hạn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chế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còn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giới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phạm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vi,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gian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thập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thiếu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trường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mưa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lớn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cực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đoan</a:t>
            </a:r>
            <a:r>
              <a:rPr lang="en-US" altLang="en-US" sz="2000" dirty="0">
                <a:solidFill>
                  <a:srgbClr val="122C9E"/>
                </a:solidFill>
                <a:latin typeface="Arial" panose="020B0604020202020204" pitchFamily="34" charset="0"/>
              </a:rPr>
              <a:t>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22C9E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Hướng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triển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Mở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rộng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triển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báo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mốc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gian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nghiệm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thêm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học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sâu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tích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chế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tái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huấn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luyện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động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22C9E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0128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2">
            <a:extLst>
              <a:ext uri="{FF2B5EF4-FFF2-40B4-BE49-F238E27FC236}">
                <a16:creationId xmlns:a16="http://schemas.microsoft.com/office/drawing/2014/main" id="{F33CA548-12BA-4285-8DC5-6077D527CFDC}"/>
              </a:ext>
            </a:extLst>
          </p:cNvPr>
          <p:cNvSpPr/>
          <p:nvPr/>
        </p:nvSpPr>
        <p:spPr>
          <a:xfrm rot="-5400000">
            <a:off x="2865735" y="-2619706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4000">
                <a:schemeClr val="accent1">
                  <a:lumMod val="45000"/>
                  <a:lumOff val="55000"/>
                  <a:alpha val="38000"/>
                </a:schemeClr>
              </a:gs>
              <a:gs pos="100000">
                <a:schemeClr val="bg1"/>
              </a:gs>
            </a:gsLst>
            <a:lin ang="5400000" scaled="1"/>
          </a:gradFill>
        </p:spPr>
        <p:txBody>
          <a:bodyPr/>
          <a:lstStyle/>
          <a:p>
            <a:endParaRPr lang="en-US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5B2A5034-DE4B-48AD-B2F3-618F83D629D6}"/>
              </a:ext>
            </a:extLst>
          </p:cNvPr>
          <p:cNvSpPr/>
          <p:nvPr/>
        </p:nvSpPr>
        <p:spPr>
          <a:xfrm flipH="1" flipV="1">
            <a:off x="9028253" y="0"/>
            <a:ext cx="3160349" cy="823404"/>
          </a:xfrm>
          <a:custGeom>
            <a:avLst/>
            <a:gdLst/>
            <a:ahLst/>
            <a:cxnLst/>
            <a:rect l="l" t="t" r="r" b="b"/>
            <a:pathLst>
              <a:path w="5906191" h="2037636">
                <a:moveTo>
                  <a:pt x="5906191" y="2037636"/>
                </a:moveTo>
                <a:lnTo>
                  <a:pt x="0" y="2037636"/>
                </a:lnTo>
                <a:lnTo>
                  <a:pt x="0" y="0"/>
                </a:lnTo>
                <a:lnTo>
                  <a:pt x="5906191" y="0"/>
                </a:lnTo>
                <a:lnTo>
                  <a:pt x="5906191" y="20376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AEBD95E-6E64-4650-9935-C3D0243E4D8D}"/>
              </a:ext>
            </a:extLst>
          </p:cNvPr>
          <p:cNvGrpSpPr/>
          <p:nvPr/>
        </p:nvGrpSpPr>
        <p:grpSpPr>
          <a:xfrm>
            <a:off x="344129" y="243085"/>
            <a:ext cx="10569678" cy="834528"/>
            <a:chOff x="514237" y="467332"/>
            <a:chExt cx="11102286" cy="834528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C382E0C5-9D41-4CDE-B61F-BBE1BFBDA136}"/>
                </a:ext>
              </a:extLst>
            </p:cNvPr>
            <p:cNvGrpSpPr/>
            <p:nvPr/>
          </p:nvGrpSpPr>
          <p:grpSpPr>
            <a:xfrm rot="5400000">
              <a:off x="5653678" y="-4660985"/>
              <a:ext cx="823404" cy="11102286"/>
              <a:chOff x="0" y="-32519"/>
              <a:chExt cx="169362" cy="3394058"/>
            </a:xfrm>
          </p:grpSpPr>
          <p:sp>
            <p:nvSpPr>
              <p:cNvPr id="57" name="Freeform 15">
                <a:extLst>
                  <a:ext uri="{FF2B5EF4-FFF2-40B4-BE49-F238E27FC236}">
                    <a16:creationId xmlns:a16="http://schemas.microsoft.com/office/drawing/2014/main" id="{B9B0BB56-5544-42FC-822F-281C2295DCFF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333690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333690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3252227"/>
                    </a:lnTo>
                    <a:cubicBezTo>
                      <a:pt x="169362" y="3274686"/>
                      <a:pt x="160440" y="3296225"/>
                      <a:pt x="144559" y="3312106"/>
                    </a:cubicBezTo>
                    <a:cubicBezTo>
                      <a:pt x="128678" y="3327986"/>
                      <a:pt x="107140" y="3336908"/>
                      <a:pt x="84681" y="3336908"/>
                    </a:cubicBezTo>
                    <a:lnTo>
                      <a:pt x="84681" y="3336908"/>
                    </a:lnTo>
                    <a:cubicBezTo>
                      <a:pt x="37913" y="3336908"/>
                      <a:pt x="0" y="3298995"/>
                      <a:pt x="0" y="325222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164B8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F7CF56CA-E1F9-468B-89D0-C9C1AC647D81}"/>
                  </a:ext>
                </a:extLst>
              </p:cNvPr>
              <p:cNvSpPr txBox="1"/>
              <p:nvPr/>
            </p:nvSpPr>
            <p:spPr>
              <a:xfrm>
                <a:off x="0" y="-32519"/>
                <a:ext cx="169362" cy="33940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C0546D2-722E-431B-B9F7-64837125D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89" y="680658"/>
              <a:ext cx="2026505" cy="41806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20ED30-60AF-4C6F-8374-4509259F1265}"/>
                </a:ext>
              </a:extLst>
            </p:cNvPr>
            <p:cNvSpPr txBox="1"/>
            <p:nvPr/>
          </p:nvSpPr>
          <p:spPr>
            <a:xfrm>
              <a:off x="2670594" y="467332"/>
              <a:ext cx="69143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HỘI THẢO KHOA HỌC QUỐC GIA LẦN THỨ VII </a:t>
              </a:r>
            </a:p>
            <a:p>
              <a:pPr algn="ctr"/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“KHOA HỌC VÀ CÔNG NGHỆ GIAO THÔNG VẬN TẢI </a:t>
              </a:r>
              <a:b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600" b="1" dirty="0">
                  <a:solidFill>
                    <a:srgbClr val="0073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 KỶ NGUYÊN SỐ VÀ TỰ ĐỘNG HÓA”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EE875391-E0F4-46E1-A1D4-F2E34F4FC0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72" t="17455" r="16705" b="18950"/>
            <a:stretch/>
          </p:blipFill>
          <p:spPr>
            <a:xfrm>
              <a:off x="9660938" y="538457"/>
              <a:ext cx="1354595" cy="723594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0C0868-461D-4410-83FA-6A152BB535AC}"/>
              </a:ext>
            </a:extLst>
          </p:cNvPr>
          <p:cNvGrpSpPr/>
          <p:nvPr/>
        </p:nvGrpSpPr>
        <p:grpSpPr>
          <a:xfrm>
            <a:off x="2944852" y="1771903"/>
            <a:ext cx="6643293" cy="1589089"/>
            <a:chOff x="2944852" y="1670305"/>
            <a:chExt cx="6643293" cy="1589089"/>
          </a:xfrm>
        </p:grpSpPr>
        <p:sp>
          <p:nvSpPr>
            <p:cNvPr id="26" name="TextBox 2">
              <a:extLst>
                <a:ext uri="{FF2B5EF4-FFF2-40B4-BE49-F238E27FC236}">
                  <a16:creationId xmlns:a16="http://schemas.microsoft.com/office/drawing/2014/main" id="{933F4EB0-7F51-46DA-A1C9-9516F8A79C78}"/>
                </a:ext>
              </a:extLst>
            </p:cNvPr>
            <p:cNvSpPr txBox="1"/>
            <p:nvPr/>
          </p:nvSpPr>
          <p:spPr>
            <a:xfrm>
              <a:off x="3208434" y="1670305"/>
              <a:ext cx="6172603" cy="15890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4658"/>
                </a:lnSpc>
              </a:pPr>
              <a:r>
                <a:rPr lang="en-US" sz="6000" b="1" dirty="0">
                  <a:solidFill>
                    <a:srgbClr val="122C9E"/>
                  </a:solidFill>
                  <a:latin typeface="Arial" panose="020B0604020202020204" pitchFamily="34" charset="0"/>
                  <a:ea typeface="Barlow Condensed Heavy"/>
                  <a:cs typeface="Arial" panose="020B0604020202020204" pitchFamily="34" charset="0"/>
                  <a:sym typeface="Barlow Condensed Heavy"/>
                </a:rPr>
                <a:t>THANK YOU!</a:t>
              </a:r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6A365904-1C9E-4F06-845B-C41BDC98CB26}"/>
                </a:ext>
              </a:extLst>
            </p:cNvPr>
            <p:cNvSpPr/>
            <p:nvPr/>
          </p:nvSpPr>
          <p:spPr>
            <a:xfrm>
              <a:off x="2944852" y="2641824"/>
              <a:ext cx="527163" cy="378523"/>
            </a:xfrm>
            <a:custGeom>
              <a:avLst/>
              <a:gdLst/>
              <a:ahLst/>
              <a:cxnLst/>
              <a:rect l="l" t="t" r="r" b="b"/>
              <a:pathLst>
                <a:path w="806841" h="564789">
                  <a:moveTo>
                    <a:pt x="0" y="0"/>
                  </a:moveTo>
                  <a:lnTo>
                    <a:pt x="806840" y="0"/>
                  </a:lnTo>
                  <a:lnTo>
                    <a:pt x="806840" y="564788"/>
                  </a:lnTo>
                  <a:lnTo>
                    <a:pt x="0" y="564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4D2982E9-A9D8-472D-A79A-6102C1514D07}"/>
                </a:ext>
              </a:extLst>
            </p:cNvPr>
            <p:cNvSpPr/>
            <p:nvPr/>
          </p:nvSpPr>
          <p:spPr>
            <a:xfrm rot="10800000">
              <a:off x="9025747" y="2641824"/>
              <a:ext cx="562398" cy="378523"/>
            </a:xfrm>
            <a:custGeom>
              <a:avLst/>
              <a:gdLst/>
              <a:ahLst/>
              <a:cxnLst/>
              <a:rect l="l" t="t" r="r" b="b"/>
              <a:pathLst>
                <a:path w="806841" h="564789">
                  <a:moveTo>
                    <a:pt x="0" y="0"/>
                  </a:moveTo>
                  <a:lnTo>
                    <a:pt x="806840" y="0"/>
                  </a:lnTo>
                  <a:lnTo>
                    <a:pt x="806840" y="564788"/>
                  </a:lnTo>
                  <a:lnTo>
                    <a:pt x="0" y="564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92F7B71-27EE-4482-84C4-2121E102610E}"/>
              </a:ext>
            </a:extLst>
          </p:cNvPr>
          <p:cNvGrpSpPr/>
          <p:nvPr/>
        </p:nvGrpSpPr>
        <p:grpSpPr>
          <a:xfrm>
            <a:off x="3472015" y="3497008"/>
            <a:ext cx="5580023" cy="831282"/>
            <a:chOff x="4153353" y="3822728"/>
            <a:chExt cx="4026939" cy="858529"/>
          </a:xfrm>
        </p:grpSpPr>
        <p:grpSp>
          <p:nvGrpSpPr>
            <p:cNvPr id="30" name="Group 3">
              <a:extLst>
                <a:ext uri="{FF2B5EF4-FFF2-40B4-BE49-F238E27FC236}">
                  <a16:creationId xmlns:a16="http://schemas.microsoft.com/office/drawing/2014/main" id="{8382D25F-83D2-4A38-82DA-084A30240F69}"/>
                </a:ext>
              </a:extLst>
            </p:cNvPr>
            <p:cNvGrpSpPr/>
            <p:nvPr/>
          </p:nvGrpSpPr>
          <p:grpSpPr>
            <a:xfrm>
              <a:off x="4153353" y="3822728"/>
              <a:ext cx="4026939" cy="858529"/>
              <a:chOff x="-62429" y="-47625"/>
              <a:chExt cx="1060593" cy="226115"/>
            </a:xfrm>
          </p:grpSpPr>
          <p:sp>
            <p:nvSpPr>
              <p:cNvPr id="34" name="Freeform 4">
                <a:extLst>
                  <a:ext uri="{FF2B5EF4-FFF2-40B4-BE49-F238E27FC236}">
                    <a16:creationId xmlns:a16="http://schemas.microsoft.com/office/drawing/2014/main" id="{4EC65EA8-C8AE-42AE-A395-A9DE391E54E1}"/>
                  </a:ext>
                </a:extLst>
              </p:cNvPr>
              <p:cNvSpPr/>
              <p:nvPr/>
            </p:nvSpPr>
            <p:spPr>
              <a:xfrm>
                <a:off x="-62429" y="3161"/>
                <a:ext cx="998164" cy="175329"/>
              </a:xfrm>
              <a:custGeom>
                <a:avLst/>
                <a:gdLst/>
                <a:ahLst/>
                <a:cxnLst/>
                <a:rect l="l" t="t" r="r" b="b"/>
                <a:pathLst>
                  <a:path w="998164" h="175329">
                    <a:moveTo>
                      <a:pt x="87664" y="0"/>
                    </a:moveTo>
                    <a:lnTo>
                      <a:pt x="910500" y="0"/>
                    </a:lnTo>
                    <a:cubicBezTo>
                      <a:pt x="958915" y="0"/>
                      <a:pt x="998164" y="39249"/>
                      <a:pt x="998164" y="87664"/>
                    </a:cubicBezTo>
                    <a:lnTo>
                      <a:pt x="998164" y="87664"/>
                    </a:lnTo>
                    <a:cubicBezTo>
                      <a:pt x="998164" y="110914"/>
                      <a:pt x="988928" y="133212"/>
                      <a:pt x="972488" y="149652"/>
                    </a:cubicBezTo>
                    <a:cubicBezTo>
                      <a:pt x="956048" y="166093"/>
                      <a:pt x="933750" y="175329"/>
                      <a:pt x="910500" y="175329"/>
                    </a:cubicBezTo>
                    <a:lnTo>
                      <a:pt x="87664" y="175329"/>
                    </a:lnTo>
                    <a:cubicBezTo>
                      <a:pt x="64414" y="175329"/>
                      <a:pt x="42117" y="166093"/>
                      <a:pt x="25676" y="149652"/>
                    </a:cubicBezTo>
                    <a:cubicBezTo>
                      <a:pt x="9236" y="133212"/>
                      <a:pt x="0" y="110914"/>
                      <a:pt x="0" y="87664"/>
                    </a:cubicBezTo>
                    <a:lnTo>
                      <a:pt x="0" y="87664"/>
                    </a:lnTo>
                    <a:cubicBezTo>
                      <a:pt x="0" y="64414"/>
                      <a:pt x="9236" y="42117"/>
                      <a:pt x="25676" y="25676"/>
                    </a:cubicBezTo>
                    <a:cubicBezTo>
                      <a:pt x="42117" y="9236"/>
                      <a:pt x="64414" y="0"/>
                      <a:pt x="87664" y="0"/>
                    </a:cubicBezTo>
                    <a:close/>
                  </a:path>
                </a:pathLst>
              </a:custGeom>
              <a:solidFill>
                <a:srgbClr val="0868A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5">
                <a:extLst>
                  <a:ext uri="{FF2B5EF4-FFF2-40B4-BE49-F238E27FC236}">
                    <a16:creationId xmlns:a16="http://schemas.microsoft.com/office/drawing/2014/main" id="{AAE8E7A6-C975-4B8F-AA8B-44D4E858E2D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998164" cy="2229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31" name="TextBox 7">
              <a:extLst>
                <a:ext uri="{FF2B5EF4-FFF2-40B4-BE49-F238E27FC236}">
                  <a16:creationId xmlns:a16="http://schemas.microsoft.com/office/drawing/2014/main" id="{7CB73E21-E38B-4B81-BB20-60EC5FC69365}"/>
                </a:ext>
              </a:extLst>
            </p:cNvPr>
            <p:cNvSpPr txBox="1"/>
            <p:nvPr/>
          </p:nvSpPr>
          <p:spPr>
            <a:xfrm>
              <a:off x="4608068" y="4172782"/>
              <a:ext cx="2932868" cy="317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13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voanhnhat1612@gmail.com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47933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30000"/>
          </a:blip>
          <a:srcRect/>
          <a:stretch>
            <a:fillRect l="-12888" r="-12888"/>
          </a:stretch>
        </a:blipFill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1732</Words>
  <Application>Microsoft Macintosh PowerPoint</Application>
  <PresentationFormat>Widescreen</PresentationFormat>
  <Paragraphs>155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Nhật Võ</cp:lastModifiedBy>
  <cp:revision>28</cp:revision>
  <dcterms:created xsi:type="dcterms:W3CDTF">2025-04-04T15:23:21Z</dcterms:created>
  <dcterms:modified xsi:type="dcterms:W3CDTF">2026-05-10T14:55:43Z</dcterms:modified>
</cp:coreProperties>
</file>